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introduce the team as Group 20, and give the one-sentence pitch: SAASSP replaces guesswork about Duly Performed status with a live, per-module progress percentage and instant AI-assisted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rubric's "relevance and significance" and "purpose and need" criteria directly, so say them almost verbatim. DP exclusion is a real, recurring problem at UNIZULU, not a hypothetical one - ground it with that line if you can, it's the strongest sentence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this problem statement plainly and pause - the rubric rewards a clear, concise, well-defined statement, so don't rush past it into the cards. Then walk the three cards: opacity, lag, fragmentation.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but they build on each other: visibility first, then a calculation method you can trust, then a status you can act on, then feedback that reaches you immediately, then making sure the right staff member sees the right student. Emphasize objective 2 - "deterministic" - since that's a question panels often ask: why not just let the AI decide? Answer: because a progress percentage has to be explainable and reproducible,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here: earlier drafts of this project were bigger - they included machine-learning risk prediction and full credit/graduation tracking. We cut both, deliberately, because they added complexity without adding trustworthiness. If asked "why no ML" in Q&amp;A: a deterministic formula is auditable by a student or a lecturer; a model's prediction usually isn't, and for something as consequential as DP status, that mattered more to us than sophistication.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wants to see the research method AND its rationale. The key point to land: we built and tested the calculation engine before writing a single line of interface code, and validated it against examples we worked out by hand first - so the numbers the system shows are provably correct, not just plausible-looking.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rubric's "innovative and useful for society" slide. Innovation here isn't the AI - it's making an otherwise invisible academic process visible and continuous, for free, on infrastructure any institution can run. Land that framing rather than over-selling the AI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three very different jobs in the system. Students are the primary users and do the most - they're the ones entering data today. Academic Staff is read-only for now, which is intentional: we phased it so lecturers gain more control (setting weightings themselves) as trust in the system grows. Administrators are the glue - they're the ones who assign a lecturer to their module, which sets up the access-control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core, so slow down here. Walk the worked example step by step: three test marks are uploaded, but the category is only configured to count the best 2 of 3, so the lowest mark - the 50% - gets displaced and doesn't count against the student. Then point at the six bands and explain they're fixed thresholds, not something a model learns - anyone can check the math by hand. If asked about "trend": mention it tolerates exactly one reversal, which is what lets a student who dipped once but recovered still show as "improving" rather than "fluctuating."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correct a common assumption: this is NOT a chatbot. The student never types a question to it. The moment a mark is uploaded, the deterministic engine runs first and locks in the percentage, band and trend - only then does Gemini get called, exactly once, purely to phrase that result in encouraging, human language. If asked "what if Gemini is down" - say the feedback step just gets skipped gracefully; the DP progress calculation itself never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box - just orient the panel. Four blueprints handle the three user roles plus authentication; the two navy boxes are the parts we're proudest of, because they're cleanly separated: the DP engine never touches the AI, and the AI never touches the database. That separation is what let us swap Gemini SDKs mid-project without touching a single line of the progress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hit the Documentation criteria directly - organization, structure, professionalism. Mention that every use case in the SRS was later corrected to be per-actor (separate Login for Student, Staff, Admin) after an early review, which shows the documentation was iterated on, not written once and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eyeball the DP engine - we wrote unit tests directly from the worked examples in our own design discussions, including edge cases like "what happens with zero recorded marks" and "what happens with exactly one score reversal." All 17 pass. The last two tests are new - one proves a student really can log in with just their student number, the other proves a lecturer assigned to Module A genuinely cannot see a student enrolled only in Module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exact order live. Step 4 matters more than it looks: do it ON STAGE before logging in as the lecturer, because a lecturer account with no module assigned correctly shows an empty list - that's not a bug, it's access control working, but it will look broken if you skip the assignment step. This is exactly the "lecturer not seeing students" issue - it is almost always this step being missed, not a fault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limitations is worth more to your mark than pretending they don't exist - a panel that catches you hiding a known issue trusts the rest of the talk less. If the AI feedback stalls live, say the line from the first card and move on without breaking stride. If a lecturer's list looks empty because assignment wasn't done in the demo step, say the line from the second card - it demonstrates you understand your own access-control design rather than being caught out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this is a working system today, not a mockup - it's tested, it's on GitHub, and a student can register, upload a mark and get feedback right now. The honest next step is giving lecturers the ability to set their own assessment weightings themselves, which the proposal always framed as a phased rollout, not a gap we forgot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open the floor. Likely questions to be ready for: why no ML (see scope slide notes), what happens if Gemini fails (see AI feedback slide notes), and how lecturer-module assignment actually works in the admin screen (see enhancements slide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D"/>
        </a:solidFill>
      </p:bgPr>
    </p:bg>
    <p:spTree>
      <p:nvGrpSpPr>
        <p:cNvPr id="1" name=""/>
        <p:cNvGrpSpPr/>
        <p:nvPr/>
      </p:nvGrpSpPr>
      <p:grpSpPr>
        <a:xfrm>
          <a:off x="0" y="0"/>
          <a:ext cx="0" cy="0"/>
          <a:chOff x="0" y="0"/>
          <a:chExt cx="0" cy="0"/>
        </a:xfrm>
      </p:grpSpPr>
      <p:sp>
        <p:nvSpPr>
          <p:cNvPr id="2" name="Text 0"/>
          <p:cNvSpPr/>
          <p:nvPr/>
        </p:nvSpPr>
        <p:spPr>
          <a:xfrm>
            <a:off x="812800" y="2046526"/>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08A28"/>
                </a:solidFill>
                <a:latin typeface="IBM Plex Sans" pitchFamily="34" charset="0"/>
                <a:ea typeface="IBM Plex Sans" pitchFamily="34" charset="-122"/>
                <a:cs typeface="IBM Plex Sans" pitchFamily="34" charset="-120"/>
              </a:rPr>
              <a:t>FINAL YEAR PROJECT · GROUP 20</a:t>
            </a:r>
            <a:endParaRPr lang="en-US" sz="1300" dirty="0"/>
          </a:p>
        </p:txBody>
      </p:sp>
      <p:sp>
        <p:nvSpPr>
          <p:cNvPr id="3" name="Text 1"/>
          <p:cNvSpPr/>
          <p:nvPr/>
        </p:nvSpPr>
        <p:spPr>
          <a:xfrm>
            <a:off x="812800" y="2506266"/>
            <a:ext cx="10791825" cy="1533049"/>
          </a:xfrm>
          <a:prstGeom prst="rect">
            <a:avLst/>
          </a:prstGeom>
          <a:noFill/>
          <a:ln/>
        </p:spPr>
        <p:txBody>
          <a:bodyPr wrap="square" lIns="0" tIns="0" rIns="0" bIns="0" rtlCol="0" anchor="t">
            <a:normAutofit/>
          </a:bodyPr>
          <a:lstStyle/>
          <a:p>
            <a:pPr algn="l" indent="0" marL="0">
              <a:lnSpc>
                <a:spcPts val="5936"/>
              </a:lnSpc>
              <a:buNone/>
            </a:pPr>
            <a:r>
              <a:rPr lang="en-US" sz="5600" b="1" dirty="0">
                <a:solidFill>
                  <a:srgbClr val="FBFBF9"/>
                </a:solidFill>
                <a:latin typeface="EB Garamond" pitchFamily="34" charset="0"/>
                <a:ea typeface="EB Garamond" pitchFamily="34" charset="-122"/>
                <a:cs typeface="EB Garamond" pitchFamily="34" charset="-120"/>
              </a:rPr>
              <a:t>Smart Academic Advisory &amp; Student Success Platform</a:t>
            </a:r>
            <a:endParaRPr lang="en-US" sz="5600" dirty="0"/>
          </a:p>
        </p:txBody>
      </p:sp>
      <p:sp>
        <p:nvSpPr>
          <p:cNvPr id="4" name="Text 2"/>
          <p:cNvSpPr/>
          <p:nvPr/>
        </p:nvSpPr>
        <p:spPr>
          <a:xfrm>
            <a:off x="812800" y="4242514"/>
            <a:ext cx="78486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7D6"/>
                </a:solidFill>
                <a:latin typeface="IBM Plex Sans" pitchFamily="34" charset="0"/>
                <a:ea typeface="IBM Plex Sans" pitchFamily="34" charset="-122"/>
                <a:cs typeface="IBM Plex Sans" pitchFamily="34" charset="-120"/>
              </a:rPr>
              <a:t>SAASSP tracks a student's Duly Performed progress for every module, and delivers AI-assisted feedback the moment a mark is uploaded.</a:t>
            </a:r>
            <a:endParaRPr lang="en-US" sz="1600" dirty="0"/>
          </a:p>
        </p:txBody>
      </p:sp>
      <p:sp>
        <p:nvSpPr>
          <p:cNvPr id="5" name="Text 3"/>
          <p:cNvSpPr/>
          <p:nvPr/>
        </p:nvSpPr>
        <p:spPr>
          <a:xfrm>
            <a:off x="812800" y="6238240"/>
            <a:ext cx="400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University of Zululand · Department of Computer Science</a:t>
            </a:r>
            <a:endParaRPr lang="en-US" sz="1200" dirty="0"/>
          </a:p>
        </p:txBody>
      </p:sp>
      <p:sp>
        <p:nvSpPr>
          <p:cNvPr id="6" name="Text 4"/>
          <p:cNvSpPr/>
          <p:nvPr/>
        </p:nvSpPr>
        <p:spPr>
          <a:xfrm>
            <a:off x="10825004" y="6238240"/>
            <a:ext cx="6049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Introduction &amp; background</a:t>
            </a:r>
            <a:endParaRPr lang="en-US" sz="3200" dirty="0"/>
          </a:p>
        </p:txBody>
      </p:sp>
      <p:sp>
        <p:nvSpPr>
          <p:cNvPr id="3" name="Shape 1"/>
          <p:cNvSpPr/>
          <p:nvPr/>
        </p:nvSpPr>
        <p:spPr>
          <a:xfrm>
            <a:off x="815975" y="1537335"/>
            <a:ext cx="5180330" cy="4301490"/>
          </a:xfrm>
          <a:prstGeom prst="roundRect">
            <a:avLst>
              <a:gd name="adj" fmla="val 2288"/>
            </a:avLst>
          </a:prstGeom>
          <a:solidFill>
            <a:srgbClr val="FFFFFF"/>
          </a:solidFill>
          <a:ln w="6350">
            <a:solidFill>
              <a:srgbClr val="E3E1D8"/>
            </a:solidFill>
            <a:prstDash val="solid"/>
          </a:ln>
        </p:spPr>
      </p:sp>
      <p:sp>
        <p:nvSpPr>
          <p:cNvPr id="4" name="Text 2"/>
          <p:cNvSpPr/>
          <p:nvPr/>
        </p:nvSpPr>
        <p:spPr>
          <a:xfrm>
            <a:off x="1097280" y="1818640"/>
            <a:ext cx="475625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08A28"/>
                </a:solidFill>
                <a:latin typeface="IBM Plex Sans" pitchFamily="34" charset="0"/>
                <a:ea typeface="IBM Plex Sans" pitchFamily="34" charset="-122"/>
                <a:cs typeface="IBM Plex Sans" pitchFamily="34" charset="-120"/>
              </a:rPr>
              <a:t>Context</a:t>
            </a:r>
            <a:endParaRPr lang="en-US" sz="1400" dirty="0"/>
          </a:p>
        </p:txBody>
      </p:sp>
      <p:sp>
        <p:nvSpPr>
          <p:cNvPr id="5" name="Text 3"/>
          <p:cNvSpPr/>
          <p:nvPr/>
        </p:nvSpPr>
        <p:spPr>
          <a:xfrm>
            <a:off x="1097280" y="2133600"/>
            <a:ext cx="475625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To sit a final exam, a student must be Duly Performed (DP) — earned continuously through class tests, assignments, quizzes and practicals across the semester, not decided in one sitting.</a:t>
            </a:r>
            <a:endParaRPr lang="en-US" sz="1300" dirty="0"/>
          </a:p>
        </p:txBody>
      </p:sp>
      <p:sp>
        <p:nvSpPr>
          <p:cNvPr id="6" name="Text 4"/>
          <p:cNvSpPr/>
          <p:nvPr/>
        </p:nvSpPr>
        <p:spPr>
          <a:xfrm>
            <a:off x="1097280" y="2978150"/>
            <a:ext cx="475625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Today that continuous record lives in spreadsheets, notices and lecturers' memory, not somewhere a student can check.</a:t>
            </a:r>
            <a:endParaRPr lang="en-US" sz="1300" dirty="0"/>
          </a:p>
        </p:txBody>
      </p:sp>
      <p:sp>
        <p:nvSpPr>
          <p:cNvPr id="7" name="Shape 5"/>
          <p:cNvSpPr/>
          <p:nvPr/>
        </p:nvSpPr>
        <p:spPr>
          <a:xfrm>
            <a:off x="6202680" y="1534160"/>
            <a:ext cx="5176520" cy="4307840"/>
          </a:xfrm>
          <a:prstGeom prst="roundRect">
            <a:avLst>
              <a:gd name="adj" fmla="val 2358"/>
            </a:avLst>
          </a:prstGeom>
          <a:solidFill>
            <a:srgbClr val="16233D"/>
          </a:solidFill>
          <a:ln/>
        </p:spPr>
      </p:sp>
      <p:sp>
        <p:nvSpPr>
          <p:cNvPr id="8" name="Text 6"/>
          <p:cNvSpPr/>
          <p:nvPr/>
        </p:nvSpPr>
        <p:spPr>
          <a:xfrm>
            <a:off x="6482080" y="1813560"/>
            <a:ext cx="475625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08A28"/>
                </a:solidFill>
                <a:latin typeface="IBM Plex Sans" pitchFamily="34" charset="0"/>
                <a:ea typeface="IBM Plex Sans" pitchFamily="34" charset="-122"/>
                <a:cs typeface="IBM Plex Sans" pitchFamily="34" charset="-120"/>
              </a:rPr>
              <a:t>Purpose &amp; need</a:t>
            </a:r>
            <a:endParaRPr lang="en-US" sz="1400" dirty="0"/>
          </a:p>
        </p:txBody>
      </p:sp>
      <p:sp>
        <p:nvSpPr>
          <p:cNvPr id="9" name="Text 7"/>
          <p:cNvSpPr/>
          <p:nvPr/>
        </p:nvSpPr>
        <p:spPr>
          <a:xfrm>
            <a:off x="6482080" y="2128520"/>
            <a:ext cx="475625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DEFF3"/>
                </a:solidFill>
                <a:latin typeface="IBM Plex Sans" pitchFamily="34" charset="0"/>
                <a:ea typeface="IBM Plex Sans" pitchFamily="34" charset="-122"/>
                <a:cs typeface="IBM Plex Sans" pitchFamily="34" charset="-120"/>
              </a:rPr>
              <a:t>SAASSP gives every student a live, per-module DP progress percentage, and every mark upload an instant, plain-language explanation of what it means for their standing.</a:t>
            </a:r>
            <a:endParaRPr lang="en-US" sz="1300" dirty="0"/>
          </a:p>
        </p:txBody>
      </p:sp>
      <p:sp>
        <p:nvSpPr>
          <p:cNvPr id="10" name="Text 8"/>
          <p:cNvSpPr/>
          <p:nvPr/>
        </p:nvSpPr>
        <p:spPr>
          <a:xfrm>
            <a:off x="6482080" y="2973070"/>
            <a:ext cx="475625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7D6"/>
                </a:solidFill>
                <a:latin typeface="IBM Plex Sans" pitchFamily="34" charset="0"/>
                <a:ea typeface="IBM Plex Sans" pitchFamily="34" charset="-122"/>
                <a:cs typeface="IBM Plex Sans" pitchFamily="34" charset="-120"/>
              </a:rPr>
              <a:t>The need is real and immediate: students at UNIZULU are excluded from exams for DP failure every semester, often without warning.</a:t>
            </a:r>
            <a:endParaRPr lang="en-US" sz="1300" dirty="0"/>
          </a:p>
        </p:txBody>
      </p:sp>
      <p:sp>
        <p:nvSpPr>
          <p:cNvPr id="11" name="Text 9"/>
          <p:cNvSpPr/>
          <p:nvPr/>
        </p:nvSpPr>
        <p:spPr>
          <a:xfrm>
            <a:off x="812800" y="6238241"/>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2" name="Text 10"/>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08A28"/>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nvSpPr>
        <p:spPr>
          <a:xfrm>
            <a:off x="812800" y="10261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6233D"/>
                </a:solidFill>
                <a:latin typeface="EB Garamond" pitchFamily="34" charset="0"/>
                <a:ea typeface="EB Garamond" pitchFamily="34" charset="-122"/>
                <a:cs typeface="EB Garamond" pitchFamily="34" charset="-120"/>
              </a:rPr>
              <a:t>Students find out they're at risk too late to do anything about it</a:t>
            </a:r>
            <a:endParaRPr lang="en-US" sz="3000" dirty="0"/>
          </a:p>
        </p:txBody>
      </p:sp>
      <p:sp>
        <p:nvSpPr>
          <p:cNvPr id="4" name="Shape 2"/>
          <p:cNvSpPr/>
          <p:nvPr/>
        </p:nvSpPr>
        <p:spPr>
          <a:xfrm>
            <a:off x="815975" y="1727836"/>
            <a:ext cx="3380264" cy="4110990"/>
          </a:xfrm>
          <a:prstGeom prst="roundRect">
            <a:avLst>
              <a:gd name="adj" fmla="val 2912"/>
            </a:avLst>
          </a:prstGeom>
          <a:solidFill>
            <a:srgbClr val="FFFFFF"/>
          </a:solidFill>
          <a:ln w="6350">
            <a:solidFill>
              <a:srgbClr val="E3E1D8"/>
            </a:solidFill>
            <a:prstDash val="solid"/>
          </a:ln>
        </p:spPr>
      </p:sp>
      <p:pic>
        <p:nvPicPr>
          <p:cNvPr id="5" name="Image 0" descr="Search">    </p:cNvPr>
          <p:cNvPicPr>
            <a:picLocks noChangeAspect="1"/>
          </p:cNvPicPr>
          <p:nvPr/>
        </p:nvPicPr>
        <p:blipFill>
          <a:blip r:embed="rId1"/>
          <a:srcRect l="0" r="0" t="0" b="0"/>
          <a:stretch/>
        </p:blipFill>
        <p:spPr>
          <a:xfrm>
            <a:off x="1071880" y="1983741"/>
            <a:ext cx="254000" cy="254000"/>
          </a:xfrm>
          <a:prstGeom prst="rect">
            <a:avLst/>
          </a:prstGeom>
        </p:spPr>
      </p:pic>
      <p:sp>
        <p:nvSpPr>
          <p:cNvPr id="6" name="Text 3"/>
          <p:cNvSpPr/>
          <p:nvPr/>
        </p:nvSpPr>
        <p:spPr>
          <a:xfrm>
            <a:off x="1071880" y="2326641"/>
            <a:ext cx="295450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D"/>
                </a:solidFill>
                <a:latin typeface="IBM Plex Sans" pitchFamily="34" charset="0"/>
                <a:ea typeface="IBM Plex Sans" pitchFamily="34" charset="-122"/>
                <a:cs typeface="IBM Plex Sans" pitchFamily="34" charset="-120"/>
              </a:rPr>
              <a:t>DP status is opaque</a:t>
            </a:r>
            <a:endParaRPr lang="en-US" sz="1500" dirty="0"/>
          </a:p>
        </p:txBody>
      </p:sp>
      <p:sp>
        <p:nvSpPr>
          <p:cNvPr id="7" name="Text 4"/>
          <p:cNvSpPr/>
          <p:nvPr/>
        </p:nvSpPr>
        <p:spPr>
          <a:xfrm>
            <a:off x="1071880" y="2644141"/>
            <a:ext cx="29545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Few students know their real-time standing against DP requirements until mid-semester or a final notice.</a:t>
            </a:r>
            <a:endParaRPr lang="en-US" sz="1200" dirty="0"/>
          </a:p>
        </p:txBody>
      </p:sp>
      <p:sp>
        <p:nvSpPr>
          <p:cNvPr id="8" name="Shape 5"/>
          <p:cNvSpPr/>
          <p:nvPr/>
        </p:nvSpPr>
        <p:spPr>
          <a:xfrm>
            <a:off x="4405789" y="1727836"/>
            <a:ext cx="3380343" cy="4110990"/>
          </a:xfrm>
          <a:prstGeom prst="roundRect">
            <a:avLst>
              <a:gd name="adj" fmla="val 2912"/>
            </a:avLst>
          </a:prstGeom>
          <a:solidFill>
            <a:srgbClr val="FFFFFF"/>
          </a:solidFill>
          <a:ln w="6350">
            <a:solidFill>
              <a:srgbClr val="E3E1D8"/>
            </a:solidFill>
            <a:prstDash val="solid"/>
          </a:ln>
        </p:spPr>
      </p:sp>
      <p:pic>
        <p:nvPicPr>
          <p:cNvPr id="9" name="Image 1" descr="Clock">    </p:cNvPr>
          <p:cNvPicPr>
            <a:picLocks noChangeAspect="1"/>
          </p:cNvPicPr>
          <p:nvPr/>
        </p:nvPicPr>
        <p:blipFill>
          <a:blip r:embed="rId2"/>
          <a:srcRect l="0" r="0" t="0" b="0"/>
          <a:stretch/>
        </p:blipFill>
        <p:spPr>
          <a:xfrm>
            <a:off x="4661694" y="1983741"/>
            <a:ext cx="254000" cy="254000"/>
          </a:xfrm>
          <a:prstGeom prst="rect">
            <a:avLst/>
          </a:prstGeom>
        </p:spPr>
      </p:pic>
      <p:sp>
        <p:nvSpPr>
          <p:cNvPr id="10" name="Text 6"/>
          <p:cNvSpPr/>
          <p:nvPr/>
        </p:nvSpPr>
        <p:spPr>
          <a:xfrm>
            <a:off x="4661694" y="2326641"/>
            <a:ext cx="2954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D"/>
                </a:solidFill>
                <a:latin typeface="IBM Plex Sans" pitchFamily="34" charset="0"/>
                <a:ea typeface="IBM Plex Sans" pitchFamily="34" charset="-122"/>
                <a:cs typeface="IBM Plex Sans" pitchFamily="34" charset="-120"/>
              </a:rPr>
              <a:t>Feedback lags behind</a:t>
            </a:r>
            <a:endParaRPr lang="en-US" sz="1500" dirty="0"/>
          </a:p>
        </p:txBody>
      </p:sp>
      <p:sp>
        <p:nvSpPr>
          <p:cNvPr id="11" name="Text 7"/>
          <p:cNvSpPr/>
          <p:nvPr/>
        </p:nvSpPr>
        <p:spPr>
          <a:xfrm>
            <a:off x="4661694" y="2644141"/>
            <a:ext cx="29545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By the time a struggling student is flagged, the assessment cycle has usually already moved on.</a:t>
            </a:r>
            <a:endParaRPr lang="en-US" sz="1200" dirty="0"/>
          </a:p>
        </p:txBody>
      </p:sp>
      <p:sp>
        <p:nvSpPr>
          <p:cNvPr id="12" name="Shape 8"/>
          <p:cNvSpPr/>
          <p:nvPr/>
        </p:nvSpPr>
        <p:spPr>
          <a:xfrm>
            <a:off x="7995682" y="1727836"/>
            <a:ext cx="3380343" cy="4110990"/>
          </a:xfrm>
          <a:prstGeom prst="roundRect">
            <a:avLst>
              <a:gd name="adj" fmla="val 2912"/>
            </a:avLst>
          </a:prstGeom>
          <a:solidFill>
            <a:srgbClr val="FFFFFF"/>
          </a:solidFill>
          <a:ln w="6350">
            <a:solidFill>
              <a:srgbClr val="E3E1D8"/>
            </a:solidFill>
            <a:prstDash val="solid"/>
          </a:ln>
        </p:spPr>
      </p:sp>
      <p:pic>
        <p:nvPicPr>
          <p:cNvPr id="13" name="Image 2" descr="Database">    </p:cNvPr>
          <p:cNvPicPr>
            <a:picLocks noChangeAspect="1"/>
          </p:cNvPicPr>
          <p:nvPr/>
        </p:nvPicPr>
        <p:blipFill>
          <a:blip r:embed="rId3"/>
          <a:srcRect l="0" r="0" t="0" b="0"/>
          <a:stretch/>
        </p:blipFill>
        <p:spPr>
          <a:xfrm>
            <a:off x="8251587" y="1983741"/>
            <a:ext cx="254000" cy="254000"/>
          </a:xfrm>
          <a:prstGeom prst="rect">
            <a:avLst/>
          </a:prstGeom>
        </p:spPr>
      </p:pic>
      <p:sp>
        <p:nvSpPr>
          <p:cNvPr id="14" name="Text 9"/>
          <p:cNvSpPr/>
          <p:nvPr/>
        </p:nvSpPr>
        <p:spPr>
          <a:xfrm>
            <a:off x="8251587" y="2326641"/>
            <a:ext cx="2954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D"/>
                </a:solidFill>
                <a:latin typeface="IBM Plex Sans" pitchFamily="34" charset="0"/>
                <a:ea typeface="IBM Plex Sans" pitchFamily="34" charset="-122"/>
                <a:cs typeface="IBM Plex Sans" pitchFamily="34" charset="-120"/>
              </a:rPr>
              <a:t>No single source of truth</a:t>
            </a:r>
            <a:endParaRPr lang="en-US" sz="1500" dirty="0"/>
          </a:p>
        </p:txBody>
      </p:sp>
      <p:sp>
        <p:nvSpPr>
          <p:cNvPr id="15" name="Text 10"/>
          <p:cNvSpPr/>
          <p:nvPr/>
        </p:nvSpPr>
        <p:spPr>
          <a:xfrm>
            <a:off x="8251587" y="2644141"/>
            <a:ext cx="29545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Marks live across spreadsheets, notices and memory — not a system a student can check at any time.</a:t>
            </a:r>
            <a:endParaRPr lang="en-US" sz="1200" dirty="0"/>
          </a:p>
        </p:txBody>
      </p:sp>
      <p:sp>
        <p:nvSpPr>
          <p:cNvPr id="16" name="Text 11"/>
          <p:cNvSpPr/>
          <p:nvPr/>
        </p:nvSpPr>
        <p:spPr>
          <a:xfrm>
            <a:off x="812800" y="6238241"/>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7" name="Text 12"/>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Goals and objectives</a:t>
            </a:r>
            <a:endParaRPr lang="en-US" sz="3200" dirty="0"/>
          </a:p>
        </p:txBody>
      </p:sp>
      <p:sp>
        <p:nvSpPr>
          <p:cNvPr id="3" name="Shape 1"/>
          <p:cNvSpPr/>
          <p:nvPr/>
        </p:nvSpPr>
        <p:spPr>
          <a:xfrm>
            <a:off x="812800" y="2318386"/>
            <a:ext cx="10566400" cy="0"/>
          </a:xfrm>
          <a:prstGeom prst="line">
            <a:avLst/>
          </a:prstGeom>
          <a:noFill/>
          <a:ln w="6350">
            <a:solidFill>
              <a:srgbClr val="E3E1D8"/>
            </a:solidFill>
            <a:prstDash val="solid"/>
          </a:ln>
        </p:spPr>
      </p:sp>
      <p:sp>
        <p:nvSpPr>
          <p:cNvPr id="4" name="Text 2"/>
          <p:cNvSpPr/>
          <p:nvPr/>
        </p:nvSpPr>
        <p:spPr>
          <a:xfrm>
            <a:off x="812800" y="1724661"/>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08A28"/>
                </a:solidFill>
                <a:latin typeface="EB Garamond" pitchFamily="34" charset="0"/>
                <a:ea typeface="EB Garamond" pitchFamily="34" charset="-122"/>
                <a:cs typeface="EB Garamond" pitchFamily="34" charset="-120"/>
              </a:rPr>
              <a:t>01</a:t>
            </a:r>
            <a:endParaRPr lang="en-US" sz="2400" dirty="0"/>
          </a:p>
        </p:txBody>
      </p:sp>
      <p:sp>
        <p:nvSpPr>
          <p:cNvPr id="5" name="Text 3"/>
          <p:cNvSpPr/>
          <p:nvPr/>
        </p:nvSpPr>
        <p:spPr>
          <a:xfrm>
            <a:off x="1524000" y="1818005"/>
            <a:ext cx="574950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33D"/>
                </a:solidFill>
                <a:latin typeface="IBM Plex Sans" pitchFamily="34" charset="0"/>
                <a:ea typeface="IBM Plex Sans" pitchFamily="34" charset="-122"/>
                <a:cs typeface="IBM Plex Sans" pitchFamily="34" charset="-120"/>
              </a:rPr>
              <a:t>Give students a live, per-module Duly Performed progress percentage.</a:t>
            </a:r>
            <a:endParaRPr lang="en-US" sz="1400" dirty="0"/>
          </a:p>
        </p:txBody>
      </p:sp>
      <p:sp>
        <p:nvSpPr>
          <p:cNvPr id="6" name="Shape 4"/>
          <p:cNvSpPr/>
          <p:nvPr/>
        </p:nvSpPr>
        <p:spPr>
          <a:xfrm>
            <a:off x="812800" y="3133726"/>
            <a:ext cx="10566400" cy="0"/>
          </a:xfrm>
          <a:prstGeom prst="line">
            <a:avLst/>
          </a:prstGeom>
          <a:noFill/>
          <a:ln w="6350">
            <a:solidFill>
              <a:srgbClr val="E3E1D8"/>
            </a:solidFill>
            <a:prstDash val="solid"/>
          </a:ln>
        </p:spPr>
      </p:sp>
      <p:sp>
        <p:nvSpPr>
          <p:cNvPr id="7" name="Text 5"/>
          <p:cNvSpPr/>
          <p:nvPr/>
        </p:nvSpPr>
        <p:spPr>
          <a:xfrm>
            <a:off x="812800" y="251333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08A28"/>
                </a:solidFill>
                <a:latin typeface="EB Garamond" pitchFamily="34" charset="0"/>
                <a:ea typeface="EB Garamond" pitchFamily="34" charset="-122"/>
                <a:cs typeface="EB Garamond" pitchFamily="34" charset="-120"/>
              </a:rPr>
              <a:t>02</a:t>
            </a:r>
            <a:endParaRPr lang="en-US" sz="2400" dirty="0"/>
          </a:p>
        </p:txBody>
      </p:sp>
      <p:sp>
        <p:nvSpPr>
          <p:cNvPr id="8" name="Text 6"/>
          <p:cNvSpPr/>
          <p:nvPr/>
        </p:nvSpPr>
        <p:spPr>
          <a:xfrm>
            <a:off x="1524000" y="2486661"/>
            <a:ext cx="1015085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33D"/>
                </a:solidFill>
                <a:latin typeface="IBM Plex Sans" pitchFamily="34" charset="0"/>
                <a:ea typeface="IBM Plex Sans" pitchFamily="34" charset="-122"/>
                <a:cs typeface="IBM Plex Sans" pitchFamily="34" charset="-120"/>
              </a:rPr>
              <a:t>Calculate that progress deterministically — weighted best-N-of-M marks per assessment category, never left to an AI model.</a:t>
            </a:r>
            <a:endParaRPr lang="en-US" sz="1400" dirty="0"/>
          </a:p>
        </p:txBody>
      </p:sp>
      <p:sp>
        <p:nvSpPr>
          <p:cNvPr id="9" name="Shape 7"/>
          <p:cNvSpPr/>
          <p:nvPr/>
        </p:nvSpPr>
        <p:spPr>
          <a:xfrm>
            <a:off x="812800" y="3895725"/>
            <a:ext cx="10566400" cy="0"/>
          </a:xfrm>
          <a:prstGeom prst="line">
            <a:avLst/>
          </a:prstGeom>
          <a:noFill/>
          <a:ln w="6350">
            <a:solidFill>
              <a:srgbClr val="E3E1D8"/>
            </a:solidFill>
            <a:prstDash val="solid"/>
          </a:ln>
        </p:spPr>
      </p:sp>
      <p:sp>
        <p:nvSpPr>
          <p:cNvPr id="10" name="Text 8"/>
          <p:cNvSpPr/>
          <p:nvPr/>
        </p:nvSpPr>
        <p:spPr>
          <a:xfrm>
            <a:off x="812800" y="33020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08A28"/>
                </a:solidFill>
                <a:latin typeface="EB Garamond" pitchFamily="34" charset="0"/>
                <a:ea typeface="EB Garamond" pitchFamily="34" charset="-122"/>
                <a:cs typeface="EB Garamond" pitchFamily="34" charset="-120"/>
              </a:rPr>
              <a:t>03</a:t>
            </a:r>
            <a:endParaRPr lang="en-US" sz="2400" dirty="0"/>
          </a:p>
        </p:txBody>
      </p:sp>
      <p:sp>
        <p:nvSpPr>
          <p:cNvPr id="11" name="Text 9"/>
          <p:cNvSpPr/>
          <p:nvPr/>
        </p:nvSpPr>
        <p:spPr>
          <a:xfrm>
            <a:off x="1524000" y="3395345"/>
            <a:ext cx="87838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33D"/>
                </a:solidFill>
                <a:latin typeface="IBM Plex Sans" pitchFamily="34" charset="0"/>
                <a:ea typeface="IBM Plex Sans" pitchFamily="34" charset="-122"/>
                <a:cs typeface="IBM Plex Sans" pitchFamily="34" charset="-120"/>
              </a:rPr>
              <a:t>Classify a six-band risk status and a trend — increasing, dropping, fluctuating — tolerant of a single reversal.</a:t>
            </a:r>
            <a:endParaRPr lang="en-US" sz="1400" dirty="0"/>
          </a:p>
        </p:txBody>
      </p:sp>
      <p:sp>
        <p:nvSpPr>
          <p:cNvPr id="12" name="Shape 10"/>
          <p:cNvSpPr/>
          <p:nvPr/>
        </p:nvSpPr>
        <p:spPr>
          <a:xfrm>
            <a:off x="812800" y="4657725"/>
            <a:ext cx="10566400" cy="0"/>
          </a:xfrm>
          <a:prstGeom prst="line">
            <a:avLst/>
          </a:prstGeom>
          <a:noFill/>
          <a:ln w="6350">
            <a:solidFill>
              <a:srgbClr val="E3E1D8"/>
            </a:solidFill>
            <a:prstDash val="solid"/>
          </a:ln>
        </p:spPr>
      </p:sp>
      <p:sp>
        <p:nvSpPr>
          <p:cNvPr id="13" name="Text 11"/>
          <p:cNvSpPr/>
          <p:nvPr/>
        </p:nvSpPr>
        <p:spPr>
          <a:xfrm>
            <a:off x="812800" y="40640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08A28"/>
                </a:solidFill>
                <a:latin typeface="EB Garamond" pitchFamily="34" charset="0"/>
                <a:ea typeface="EB Garamond" pitchFamily="34" charset="-122"/>
                <a:cs typeface="EB Garamond" pitchFamily="34" charset="-120"/>
              </a:rPr>
              <a:t>04</a:t>
            </a:r>
            <a:endParaRPr lang="en-US" sz="2400" dirty="0"/>
          </a:p>
        </p:txBody>
      </p:sp>
      <p:sp>
        <p:nvSpPr>
          <p:cNvPr id="14" name="Text 12"/>
          <p:cNvSpPr/>
          <p:nvPr/>
        </p:nvSpPr>
        <p:spPr>
          <a:xfrm>
            <a:off x="1524000" y="4157345"/>
            <a:ext cx="868921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33D"/>
                </a:solidFill>
                <a:latin typeface="IBM Plex Sans" pitchFamily="34" charset="0"/>
                <a:ea typeface="IBM Plex Sans" pitchFamily="34" charset="-122"/>
                <a:cs typeface="IBM Plex Sans" pitchFamily="34" charset="-120"/>
              </a:rPr>
              <a:t>Generate short, one-shot AI feedback after every mark upload — never a chatbot the student has to query.</a:t>
            </a:r>
            <a:endParaRPr lang="en-US" sz="1400" dirty="0"/>
          </a:p>
        </p:txBody>
      </p:sp>
      <p:sp>
        <p:nvSpPr>
          <p:cNvPr id="15" name="Text 13"/>
          <p:cNvSpPr/>
          <p:nvPr/>
        </p:nvSpPr>
        <p:spPr>
          <a:xfrm>
            <a:off x="812800" y="48260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08A28"/>
                </a:solidFill>
                <a:latin typeface="EB Garamond" pitchFamily="34" charset="0"/>
                <a:ea typeface="EB Garamond" pitchFamily="34" charset="-122"/>
                <a:cs typeface="EB Garamond" pitchFamily="34" charset="-120"/>
              </a:rPr>
              <a:t>05</a:t>
            </a:r>
            <a:endParaRPr lang="en-US" sz="2400" dirty="0"/>
          </a:p>
        </p:txBody>
      </p:sp>
      <p:sp>
        <p:nvSpPr>
          <p:cNvPr id="16" name="Text 14"/>
          <p:cNvSpPr/>
          <p:nvPr/>
        </p:nvSpPr>
        <p:spPr>
          <a:xfrm>
            <a:off x="1524000" y="4919345"/>
            <a:ext cx="620317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33D"/>
                </a:solidFill>
                <a:latin typeface="IBM Plex Sans" pitchFamily="34" charset="0"/>
                <a:ea typeface="IBM Plex Sans" pitchFamily="34" charset="-122"/>
                <a:cs typeface="IBM Plex Sans" pitchFamily="34" charset="-120"/>
              </a:rPr>
              <a:t>Let each lecturer see only the students in the module(s) they actually teach.</a:t>
            </a:r>
            <a:endParaRPr lang="en-US" sz="1400" dirty="0"/>
          </a:p>
        </p:txBody>
      </p:sp>
      <p:sp>
        <p:nvSpPr>
          <p:cNvPr id="17" name="Text 15"/>
          <p:cNvSpPr/>
          <p:nvPr/>
        </p:nvSpPr>
        <p:spPr>
          <a:xfrm>
            <a:off x="812800" y="6238239"/>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8" name="Text 16"/>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Scope, deliberately narrowed</a:t>
            </a:r>
            <a:endParaRPr lang="en-US" sz="3200" dirty="0"/>
          </a:p>
        </p:txBody>
      </p:sp>
      <p:sp>
        <p:nvSpPr>
          <p:cNvPr id="3" name="Text 1"/>
          <p:cNvSpPr/>
          <p:nvPr/>
        </p:nvSpPr>
        <p:spPr>
          <a:xfrm>
            <a:off x="812800" y="1534161"/>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Earlier drafts included ML risk prediction, credit/graduation tracking and module recommendation. Each was removed so the system could do one thing well.</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96160"/>
          <a:ext cx="10556240" cy="2372360"/>
        </p:xfrm>
        <a:graphic>
          <a:graphicData uri="http://schemas.openxmlformats.org/drawingml/2006/table">
            <a:tbl>
              <a:tblPr/>
              <a:tblGrid>
                <a:gridCol w="5278120"/>
                <a:gridCol w="5278120"/>
              </a:tblGrid>
              <a:tr h="356870">
                <a:tc>
                  <a:txBody>
                    <a:bodyPr/>
                    <a:lstStyle/>
                    <a:p>
                      <a:pPr indent="0" marL="0">
                        <a:lnSpc>
                          <a:spcPts val="1820"/>
                        </a:lnSpc>
                        <a:buNone/>
                      </a:pPr>
                      <a:r>
                        <a:rPr lang="en-US" sz="1300" b="1" dirty="0">
                          <a:solidFill>
                            <a:srgbClr val="FBFBF9"/>
                          </a:solidFill>
                          <a:latin typeface="IBM Plex Sans" pitchFamily="34" charset="0"/>
                          <a:ea typeface="IBM Plex Sans" pitchFamily="34" charset="-122"/>
                          <a:cs typeface="IBM Plex Sans" pitchFamily="34" charset="-120"/>
                        </a:rPr>
                        <a:t>In scope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820"/>
                        </a:lnSpc>
                        <a:buNone/>
                      </a:pPr>
                      <a:r>
                        <a:rPr lang="en-US" sz="1300" b="1" dirty="0">
                          <a:solidFill>
                            <a:srgbClr val="FBFBF9"/>
                          </a:solidFill>
                          <a:latin typeface="IBM Plex Sans" pitchFamily="34" charset="0"/>
                          <a:ea typeface="IBM Plex Sans" pitchFamily="34" charset="-122"/>
                          <a:cs typeface="IBM Plex Sans" pitchFamily="34" charset="-120"/>
                        </a:rPr>
                        <a:t>Out of scope (for now)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Student self-service DP progress tracking, per module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Credit accumulation / graduation tracking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Deterministic weighted best-N-of-M calculation engine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ML-based risk prediction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One-shot AI-assisted feedback on every mark upload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Rule-based module recommendation &amp; prerequisite checking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Academic Staff read-only view, scoped to their module(s)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Lecturer-set assessment weightings (planned next)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58801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Administrator: programme/module import, user &amp; module assignment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39"/>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6" name="Text 3"/>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Methodology</a:t>
            </a:r>
            <a:endParaRPr lang="en-US" sz="3200" dirty="0"/>
          </a:p>
        </p:txBody>
      </p:sp>
      <p:sp>
        <p:nvSpPr>
          <p:cNvPr id="3" name="Shape 1"/>
          <p:cNvSpPr/>
          <p:nvPr/>
        </p:nvSpPr>
        <p:spPr>
          <a:xfrm>
            <a:off x="815975" y="1562736"/>
            <a:ext cx="2523490" cy="3569970"/>
          </a:xfrm>
          <a:prstGeom prst="roundRect">
            <a:avLst>
              <a:gd name="adj" fmla="val 3900"/>
            </a:avLst>
          </a:prstGeom>
          <a:solidFill>
            <a:srgbClr val="FFFFFF"/>
          </a:solidFill>
          <a:ln w="6350">
            <a:solidFill>
              <a:srgbClr val="E3E1D8"/>
            </a:solidFill>
            <a:prstDash val="solid"/>
          </a:ln>
        </p:spPr>
      </p:sp>
      <p:sp>
        <p:nvSpPr>
          <p:cNvPr id="4" name="Text 2"/>
          <p:cNvSpPr/>
          <p:nvPr/>
        </p:nvSpPr>
        <p:spPr>
          <a:xfrm>
            <a:off x="1021080" y="1793239"/>
            <a:ext cx="217667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08A28"/>
                </a:solidFill>
                <a:latin typeface="EB Garamond" pitchFamily="34" charset="0"/>
                <a:ea typeface="EB Garamond" pitchFamily="34" charset="-122"/>
                <a:cs typeface="EB Garamond" pitchFamily="34" charset="-120"/>
              </a:rPr>
              <a:t>01</a:t>
            </a:r>
            <a:endParaRPr lang="en-US" sz="2200" dirty="0"/>
          </a:p>
        </p:txBody>
      </p:sp>
      <p:sp>
        <p:nvSpPr>
          <p:cNvPr id="5" name="Text 3"/>
          <p:cNvSpPr/>
          <p:nvPr/>
        </p:nvSpPr>
        <p:spPr>
          <a:xfrm>
            <a:off x="1021080" y="2273300"/>
            <a:ext cx="217667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Requirements &amp; design</a:t>
            </a:r>
            <a:endParaRPr lang="en-US" sz="1300" dirty="0"/>
          </a:p>
        </p:txBody>
      </p:sp>
      <p:sp>
        <p:nvSpPr>
          <p:cNvPr id="6" name="Text 4"/>
          <p:cNvSpPr/>
          <p:nvPr/>
        </p:nvSpPr>
        <p:spPr>
          <a:xfrm>
            <a:off x="1021080" y="2560321"/>
            <a:ext cx="2176679" cy="8077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Proposal, SRS and SDD developed iteratively against a marking rubric, narrowing scope through review.</a:t>
            </a:r>
            <a:endParaRPr lang="en-US" sz="1100" dirty="0"/>
          </a:p>
        </p:txBody>
      </p:sp>
      <p:sp>
        <p:nvSpPr>
          <p:cNvPr id="7" name="Shape 5"/>
          <p:cNvSpPr/>
          <p:nvPr/>
        </p:nvSpPr>
        <p:spPr>
          <a:xfrm>
            <a:off x="3498215" y="1562736"/>
            <a:ext cx="2523490" cy="3569970"/>
          </a:xfrm>
          <a:prstGeom prst="roundRect">
            <a:avLst>
              <a:gd name="adj" fmla="val 3900"/>
            </a:avLst>
          </a:prstGeom>
          <a:solidFill>
            <a:srgbClr val="FFFFFF"/>
          </a:solidFill>
          <a:ln w="6350">
            <a:solidFill>
              <a:srgbClr val="E3E1D8"/>
            </a:solidFill>
            <a:prstDash val="solid"/>
          </a:ln>
        </p:spPr>
      </p:sp>
      <p:sp>
        <p:nvSpPr>
          <p:cNvPr id="8" name="Text 6"/>
          <p:cNvSpPr/>
          <p:nvPr/>
        </p:nvSpPr>
        <p:spPr>
          <a:xfrm>
            <a:off x="3703320" y="1793239"/>
            <a:ext cx="217667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08A28"/>
                </a:solidFill>
                <a:latin typeface="EB Garamond" pitchFamily="34" charset="0"/>
                <a:ea typeface="EB Garamond" pitchFamily="34" charset="-122"/>
                <a:cs typeface="EB Garamond" pitchFamily="34" charset="-120"/>
              </a:rPr>
              <a:t>02</a:t>
            </a:r>
            <a:endParaRPr lang="en-US" sz="2200" dirty="0"/>
          </a:p>
        </p:txBody>
      </p:sp>
      <p:sp>
        <p:nvSpPr>
          <p:cNvPr id="9" name="Text 7"/>
          <p:cNvSpPr/>
          <p:nvPr/>
        </p:nvSpPr>
        <p:spPr>
          <a:xfrm>
            <a:off x="3703320" y="2273300"/>
            <a:ext cx="217667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Build the engine first</a:t>
            </a:r>
            <a:endParaRPr lang="en-US" sz="1300" dirty="0"/>
          </a:p>
        </p:txBody>
      </p:sp>
      <p:sp>
        <p:nvSpPr>
          <p:cNvPr id="10" name="Text 8"/>
          <p:cNvSpPr/>
          <p:nvPr/>
        </p:nvSpPr>
        <p:spPr>
          <a:xfrm>
            <a:off x="3703320" y="2560321"/>
            <a:ext cx="2176679" cy="8077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The deterministic DP calculation was written and unit-tested against hand-worked examples before any interface existed.</a:t>
            </a:r>
            <a:endParaRPr lang="en-US" sz="1100" dirty="0"/>
          </a:p>
        </p:txBody>
      </p:sp>
      <p:sp>
        <p:nvSpPr>
          <p:cNvPr id="11" name="Shape 9"/>
          <p:cNvSpPr/>
          <p:nvPr/>
        </p:nvSpPr>
        <p:spPr>
          <a:xfrm>
            <a:off x="6180455" y="1562736"/>
            <a:ext cx="2523490" cy="3569970"/>
          </a:xfrm>
          <a:prstGeom prst="roundRect">
            <a:avLst>
              <a:gd name="adj" fmla="val 3900"/>
            </a:avLst>
          </a:prstGeom>
          <a:solidFill>
            <a:srgbClr val="FFFFFF"/>
          </a:solidFill>
          <a:ln w="6350">
            <a:solidFill>
              <a:srgbClr val="E3E1D8"/>
            </a:solidFill>
            <a:prstDash val="solid"/>
          </a:ln>
        </p:spPr>
      </p:sp>
      <p:sp>
        <p:nvSpPr>
          <p:cNvPr id="12" name="Text 10"/>
          <p:cNvSpPr/>
          <p:nvPr/>
        </p:nvSpPr>
        <p:spPr>
          <a:xfrm>
            <a:off x="6385560" y="1793239"/>
            <a:ext cx="217667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08A28"/>
                </a:solidFill>
                <a:latin typeface="EB Garamond" pitchFamily="34" charset="0"/>
                <a:ea typeface="EB Garamond" pitchFamily="34" charset="-122"/>
                <a:cs typeface="EB Garamond" pitchFamily="34" charset="-120"/>
              </a:rPr>
              <a:t>03</a:t>
            </a:r>
            <a:endParaRPr lang="en-US" sz="2200" dirty="0"/>
          </a:p>
        </p:txBody>
      </p:sp>
      <p:sp>
        <p:nvSpPr>
          <p:cNvPr id="13" name="Text 11"/>
          <p:cNvSpPr/>
          <p:nvPr/>
        </p:nvSpPr>
        <p:spPr>
          <a:xfrm>
            <a:off x="6385560" y="2273300"/>
            <a:ext cx="217667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Integrate AI feedback</a:t>
            </a:r>
            <a:endParaRPr lang="en-US" sz="1300" dirty="0"/>
          </a:p>
        </p:txBody>
      </p:sp>
      <p:sp>
        <p:nvSpPr>
          <p:cNvPr id="14" name="Text 12"/>
          <p:cNvSpPr/>
          <p:nvPr/>
        </p:nvSpPr>
        <p:spPr>
          <a:xfrm>
            <a:off x="6385560" y="2560321"/>
            <a:ext cx="2176679" cy="8077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Gemini was layered on top, strictly as a wording step, so it could be swapped without touching the engine.</a:t>
            </a:r>
            <a:endParaRPr lang="en-US" sz="1100" dirty="0"/>
          </a:p>
        </p:txBody>
      </p:sp>
      <p:sp>
        <p:nvSpPr>
          <p:cNvPr id="15" name="Shape 13"/>
          <p:cNvSpPr/>
          <p:nvPr/>
        </p:nvSpPr>
        <p:spPr>
          <a:xfrm>
            <a:off x="8859520" y="1559561"/>
            <a:ext cx="2519680" cy="3576320"/>
          </a:xfrm>
          <a:prstGeom prst="roundRect">
            <a:avLst>
              <a:gd name="adj" fmla="val 4032"/>
            </a:avLst>
          </a:prstGeom>
          <a:solidFill>
            <a:srgbClr val="16233D"/>
          </a:solidFill>
          <a:ln/>
        </p:spPr>
      </p:sp>
      <p:sp>
        <p:nvSpPr>
          <p:cNvPr id="16" name="Text 14"/>
          <p:cNvSpPr/>
          <p:nvPr/>
        </p:nvSpPr>
        <p:spPr>
          <a:xfrm>
            <a:off x="9062720" y="1788161"/>
            <a:ext cx="217667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08A28"/>
                </a:solidFill>
                <a:latin typeface="EB Garamond" pitchFamily="34" charset="0"/>
                <a:ea typeface="EB Garamond" pitchFamily="34" charset="-122"/>
                <a:cs typeface="EB Garamond" pitchFamily="34" charset="-120"/>
              </a:rPr>
              <a:t>04</a:t>
            </a:r>
            <a:endParaRPr lang="en-US" sz="2200" dirty="0"/>
          </a:p>
        </p:txBody>
      </p:sp>
      <p:sp>
        <p:nvSpPr>
          <p:cNvPr id="17" name="Text 15"/>
          <p:cNvSpPr/>
          <p:nvPr/>
        </p:nvSpPr>
        <p:spPr>
          <a:xfrm>
            <a:off x="9062720" y="2268221"/>
            <a:ext cx="217667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BFBF9"/>
                </a:solidFill>
                <a:latin typeface="IBM Plex Sans" pitchFamily="34" charset="0"/>
                <a:ea typeface="IBM Plex Sans" pitchFamily="34" charset="-122"/>
                <a:cs typeface="IBM Plex Sans" pitchFamily="34" charset="-120"/>
              </a:rPr>
              <a:t>Test &amp; refine</a:t>
            </a:r>
            <a:endParaRPr lang="en-US" sz="1300" dirty="0"/>
          </a:p>
        </p:txBody>
      </p:sp>
      <p:sp>
        <p:nvSpPr>
          <p:cNvPr id="18" name="Text 16"/>
          <p:cNvSpPr/>
          <p:nvPr/>
        </p:nvSpPr>
        <p:spPr>
          <a:xfrm>
            <a:off x="9062720" y="2555239"/>
            <a:ext cx="2176679" cy="8077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BFC7D6"/>
                </a:solidFill>
                <a:latin typeface="IBM Plex Sans" pitchFamily="34" charset="0"/>
                <a:ea typeface="IBM Plex Sans" pitchFamily="34" charset="-122"/>
                <a:cs typeface="IBM Plex Sans" pitchFamily="34" charset="-120"/>
              </a:rPr>
              <a:t>17 automated tests, real end-to-end runs, and access-control checks added as new requirements emerged.</a:t>
            </a:r>
            <a:endParaRPr lang="en-US" sz="1100" dirty="0"/>
          </a:p>
        </p:txBody>
      </p:sp>
      <p:sp>
        <p:nvSpPr>
          <p:cNvPr id="19" name="Text 17"/>
          <p:cNvSpPr/>
          <p:nvPr/>
        </p:nvSpPr>
        <p:spPr>
          <a:xfrm>
            <a:off x="812800" y="5415282"/>
            <a:ext cx="104648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Technology choices followed the same rationale: Flask + SQLAlchemy for a portable, framework-light stack; SQLite for zero-setup development, MySQL-ready for deployment without a rewrite.</a:t>
            </a:r>
            <a:endParaRPr lang="en-US" sz="1200" dirty="0"/>
          </a:p>
        </p:txBody>
      </p:sp>
      <p:sp>
        <p:nvSpPr>
          <p:cNvPr id="20" name="Text 18"/>
          <p:cNvSpPr/>
          <p:nvPr/>
        </p:nvSpPr>
        <p:spPr>
          <a:xfrm>
            <a:off x="812800" y="6238239"/>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21" name="Text 19"/>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Project value &amp; benefits</a:t>
            </a:r>
            <a:endParaRPr lang="en-US" sz="3200" dirty="0"/>
          </a:p>
        </p:txBody>
      </p:sp>
      <p:sp>
        <p:nvSpPr>
          <p:cNvPr id="3" name="Shape 1"/>
          <p:cNvSpPr/>
          <p:nvPr/>
        </p:nvSpPr>
        <p:spPr>
          <a:xfrm>
            <a:off x="812800" y="1559561"/>
            <a:ext cx="3379867" cy="4282440"/>
          </a:xfrm>
          <a:prstGeom prst="roundRect">
            <a:avLst>
              <a:gd name="adj" fmla="val 3006"/>
            </a:avLst>
          </a:prstGeom>
          <a:solidFill>
            <a:srgbClr val="16233D"/>
          </a:solidFill>
          <a:ln/>
        </p:spPr>
      </p:sp>
      <p:pic>
        <p:nvPicPr>
          <p:cNvPr id="4" name="Image 0" descr="Users">    </p:cNvPr>
          <p:cNvPicPr>
            <a:picLocks noChangeAspect="1"/>
          </p:cNvPicPr>
          <p:nvPr/>
        </p:nvPicPr>
        <p:blipFill>
          <a:blip r:embed="rId1"/>
          <a:srcRect l="0" r="0" t="0" b="0"/>
          <a:stretch/>
        </p:blipFill>
        <p:spPr>
          <a:xfrm>
            <a:off x="1092200" y="1838961"/>
            <a:ext cx="254000" cy="254000"/>
          </a:xfrm>
          <a:prstGeom prst="rect">
            <a:avLst/>
          </a:prstGeom>
        </p:spPr>
      </p:pic>
      <p:sp>
        <p:nvSpPr>
          <p:cNvPr id="5" name="Text 2"/>
          <p:cNvSpPr/>
          <p:nvPr/>
        </p:nvSpPr>
        <p:spPr>
          <a:xfrm>
            <a:off x="1092200" y="2207261"/>
            <a:ext cx="290569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BFBF9"/>
                </a:solidFill>
                <a:latin typeface="IBM Plex Sans" pitchFamily="34" charset="0"/>
                <a:ea typeface="IBM Plex Sans" pitchFamily="34" charset="-122"/>
                <a:cs typeface="IBM Plex Sans" pitchFamily="34" charset="-120"/>
              </a:rPr>
              <a:t>For students</a:t>
            </a:r>
            <a:endParaRPr lang="en-US" sz="1500" dirty="0"/>
          </a:p>
        </p:txBody>
      </p:sp>
      <p:sp>
        <p:nvSpPr>
          <p:cNvPr id="6" name="Text 3"/>
          <p:cNvSpPr/>
          <p:nvPr/>
        </p:nvSpPr>
        <p:spPr>
          <a:xfrm>
            <a:off x="1092200" y="2550161"/>
            <a:ext cx="2905699"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7D6"/>
                </a:solidFill>
                <a:latin typeface="IBM Plex Sans" pitchFamily="34" charset="0"/>
                <a:ea typeface="IBM Plex Sans" pitchFamily="34" charset="-122"/>
                <a:cs typeface="IBM Plex Sans" pitchFamily="34" charset="-120"/>
              </a:rPr>
              <a:t>Continuous, honest visibility into DP standing, and plain-language feedback the moment a mark is uploaded — not a surprise at exam time.</a:t>
            </a:r>
            <a:endParaRPr lang="en-US" sz="1200" dirty="0"/>
          </a:p>
        </p:txBody>
      </p:sp>
      <p:sp>
        <p:nvSpPr>
          <p:cNvPr id="7" name="Shape 4"/>
          <p:cNvSpPr/>
          <p:nvPr/>
        </p:nvSpPr>
        <p:spPr>
          <a:xfrm>
            <a:off x="4399042" y="1562736"/>
            <a:ext cx="3383756" cy="4276090"/>
          </a:xfrm>
          <a:prstGeom prst="roundRect">
            <a:avLst>
              <a:gd name="adj" fmla="val 2909"/>
            </a:avLst>
          </a:prstGeom>
          <a:solidFill>
            <a:srgbClr val="FFFFFF"/>
          </a:solidFill>
          <a:ln w="6350">
            <a:solidFill>
              <a:srgbClr val="E3E1D8"/>
            </a:solidFill>
            <a:prstDash val="solid"/>
          </a:ln>
        </p:spPr>
      </p:sp>
      <p:pic>
        <p:nvPicPr>
          <p:cNvPr id="8" name="Image 1" descr="GraduationCap">    </p:cNvPr>
          <p:cNvPicPr>
            <a:picLocks noChangeAspect="1"/>
          </p:cNvPicPr>
          <p:nvPr/>
        </p:nvPicPr>
        <p:blipFill>
          <a:blip r:embed="rId2"/>
          <a:srcRect l="0" r="0" t="0" b="0"/>
          <a:stretch/>
        </p:blipFill>
        <p:spPr>
          <a:xfrm>
            <a:off x="4680347" y="1844039"/>
            <a:ext cx="254000" cy="254000"/>
          </a:xfrm>
          <a:prstGeom prst="rect">
            <a:avLst/>
          </a:prstGeom>
        </p:spPr>
      </p:pic>
      <p:sp>
        <p:nvSpPr>
          <p:cNvPr id="9" name="Text 5"/>
          <p:cNvSpPr/>
          <p:nvPr/>
        </p:nvSpPr>
        <p:spPr>
          <a:xfrm>
            <a:off x="4680347" y="2212339"/>
            <a:ext cx="29057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D"/>
                </a:solidFill>
                <a:latin typeface="IBM Plex Sans" pitchFamily="34" charset="0"/>
                <a:ea typeface="IBM Plex Sans" pitchFamily="34" charset="-122"/>
                <a:cs typeface="IBM Plex Sans" pitchFamily="34" charset="-120"/>
              </a:rPr>
              <a:t>For lecturers</a:t>
            </a:r>
            <a:endParaRPr lang="en-US" sz="1500" dirty="0"/>
          </a:p>
        </p:txBody>
      </p:sp>
      <p:sp>
        <p:nvSpPr>
          <p:cNvPr id="10" name="Text 6"/>
          <p:cNvSpPr/>
          <p:nvPr/>
        </p:nvSpPr>
        <p:spPr>
          <a:xfrm>
            <a:off x="4680347" y="2555239"/>
            <a:ext cx="2905781"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B6472"/>
                </a:solidFill>
                <a:latin typeface="IBM Plex Sans" pitchFamily="34" charset="0"/>
                <a:ea typeface="IBM Plex Sans" pitchFamily="34" charset="-122"/>
                <a:cs typeface="IBM Plex Sans" pitchFamily="34" charset="-120"/>
              </a:rPr>
              <a:t>A focused, scoped view of only their own module's students, instead of manually tracking progress across spreadsheets.</a:t>
            </a:r>
            <a:endParaRPr lang="en-US" sz="1200" dirty="0"/>
          </a:p>
        </p:txBody>
      </p:sp>
      <p:sp>
        <p:nvSpPr>
          <p:cNvPr id="11" name="Shape 7"/>
          <p:cNvSpPr/>
          <p:nvPr/>
        </p:nvSpPr>
        <p:spPr>
          <a:xfrm>
            <a:off x="7992349" y="1562736"/>
            <a:ext cx="3383677" cy="4276090"/>
          </a:xfrm>
          <a:prstGeom prst="roundRect">
            <a:avLst>
              <a:gd name="adj" fmla="val 2909"/>
            </a:avLst>
          </a:prstGeom>
          <a:solidFill>
            <a:srgbClr val="FFFFFF"/>
          </a:solidFill>
          <a:ln w="6350">
            <a:solidFill>
              <a:srgbClr val="E3E1D8"/>
            </a:solidFill>
            <a:prstDash val="solid"/>
          </a:ln>
        </p:spPr>
      </p:sp>
      <p:pic>
        <p:nvPicPr>
          <p:cNvPr id="12" name="Image 2" descr="Trust">    </p:cNvPr>
          <p:cNvPicPr>
            <a:picLocks noChangeAspect="1"/>
          </p:cNvPicPr>
          <p:nvPr/>
        </p:nvPicPr>
        <p:blipFill>
          <a:blip r:embed="rId3"/>
          <a:srcRect l="0" r="0" t="0" b="0"/>
          <a:stretch/>
        </p:blipFill>
        <p:spPr>
          <a:xfrm>
            <a:off x="8273653" y="1844039"/>
            <a:ext cx="254000" cy="254000"/>
          </a:xfrm>
          <a:prstGeom prst="rect">
            <a:avLst/>
          </a:prstGeom>
        </p:spPr>
      </p:pic>
      <p:sp>
        <p:nvSpPr>
          <p:cNvPr id="13" name="Text 8"/>
          <p:cNvSpPr/>
          <p:nvPr/>
        </p:nvSpPr>
        <p:spPr>
          <a:xfrm>
            <a:off x="8273653" y="2212339"/>
            <a:ext cx="290569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D"/>
                </a:solidFill>
                <a:latin typeface="IBM Plex Sans" pitchFamily="34" charset="0"/>
                <a:ea typeface="IBM Plex Sans" pitchFamily="34" charset="-122"/>
                <a:cs typeface="IBM Plex Sans" pitchFamily="34" charset="-120"/>
              </a:rPr>
              <a:t>For the institution</a:t>
            </a:r>
            <a:endParaRPr lang="en-US" sz="1500" dirty="0"/>
          </a:p>
        </p:txBody>
      </p:sp>
      <p:sp>
        <p:nvSpPr>
          <p:cNvPr id="14" name="Text 9"/>
          <p:cNvSpPr/>
          <p:nvPr/>
        </p:nvSpPr>
        <p:spPr>
          <a:xfrm>
            <a:off x="8273653" y="2555239"/>
            <a:ext cx="2905699"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B6472"/>
                </a:solidFill>
                <a:latin typeface="IBM Plex Sans" pitchFamily="34" charset="0"/>
                <a:ea typeface="IBM Plex Sans" pitchFamily="34" charset="-122"/>
                <a:cs typeface="IBM Plex Sans" pitchFamily="34" charset="-120"/>
              </a:rPr>
              <a:t>An early-warning culture around DP exclusion, built on an auditable formula rather than an opaque model — low-cost to run and easy to explain.</a:t>
            </a:r>
            <a:endParaRPr lang="en-US" sz="1200" dirty="0"/>
          </a:p>
        </p:txBody>
      </p:sp>
      <p:sp>
        <p:nvSpPr>
          <p:cNvPr id="15" name="Text 10"/>
          <p:cNvSpPr/>
          <p:nvPr/>
        </p:nvSpPr>
        <p:spPr>
          <a:xfrm>
            <a:off x="812800" y="6238239"/>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6" name="Text 11"/>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Three roles, one system</a:t>
            </a:r>
            <a:endParaRPr lang="en-US" sz="3200" dirty="0"/>
          </a:p>
        </p:txBody>
      </p:sp>
      <p:sp>
        <p:nvSpPr>
          <p:cNvPr id="3" name="Shape 1"/>
          <p:cNvSpPr/>
          <p:nvPr/>
        </p:nvSpPr>
        <p:spPr>
          <a:xfrm>
            <a:off x="812800" y="1559561"/>
            <a:ext cx="3379867" cy="4282440"/>
          </a:xfrm>
          <a:prstGeom prst="roundRect">
            <a:avLst>
              <a:gd name="adj" fmla="val 3006"/>
            </a:avLst>
          </a:prstGeom>
          <a:solidFill>
            <a:srgbClr val="16233D"/>
          </a:solidFill>
          <a:ln/>
        </p:spPr>
      </p:sp>
      <p:pic>
        <p:nvPicPr>
          <p:cNvPr id="4" name="Image 0" descr="Users">    </p:cNvPr>
          <p:cNvPicPr>
            <a:picLocks noChangeAspect="1"/>
          </p:cNvPicPr>
          <p:nvPr/>
        </p:nvPicPr>
        <p:blipFill>
          <a:blip r:embed="rId1"/>
          <a:srcRect l="0" r="0" t="0" b="0"/>
          <a:stretch/>
        </p:blipFill>
        <p:spPr>
          <a:xfrm>
            <a:off x="1092200" y="1838961"/>
            <a:ext cx="279400" cy="279400"/>
          </a:xfrm>
          <a:prstGeom prst="rect">
            <a:avLst/>
          </a:prstGeom>
        </p:spPr>
      </p:pic>
      <p:sp>
        <p:nvSpPr>
          <p:cNvPr id="5" name="Text 2"/>
          <p:cNvSpPr/>
          <p:nvPr/>
        </p:nvSpPr>
        <p:spPr>
          <a:xfrm>
            <a:off x="1092200" y="2232661"/>
            <a:ext cx="290569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BF9"/>
                </a:solidFill>
                <a:latin typeface="IBM Plex Sans" pitchFamily="34" charset="0"/>
                <a:ea typeface="IBM Plex Sans" pitchFamily="34" charset="-122"/>
                <a:cs typeface="IBM Plex Sans" pitchFamily="34" charset="-120"/>
              </a:rPr>
              <a:t>Student</a:t>
            </a:r>
            <a:endParaRPr lang="en-US" sz="1600" dirty="0"/>
          </a:p>
        </p:txBody>
      </p:sp>
      <p:sp>
        <p:nvSpPr>
          <p:cNvPr id="6" name="Text 3"/>
          <p:cNvSpPr/>
          <p:nvPr/>
        </p:nvSpPr>
        <p:spPr>
          <a:xfrm>
            <a:off x="1092200" y="2590800"/>
            <a:ext cx="2905699"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7D6"/>
                </a:solidFill>
                <a:latin typeface="IBM Plex Sans" pitchFamily="34" charset="0"/>
                <a:ea typeface="IBM Plex Sans" pitchFamily="34" charset="-122"/>
                <a:cs typeface="IBM Plex Sans" pitchFamily="34" charset="-120"/>
              </a:rPr>
              <a:t>Selects programme and modules, configures the assessment structure, uploads marks, and sees live DP progress with AI feedback.</a:t>
            </a:r>
            <a:endParaRPr lang="en-US" sz="1200" dirty="0"/>
          </a:p>
        </p:txBody>
      </p:sp>
      <p:sp>
        <p:nvSpPr>
          <p:cNvPr id="7" name="Shape 4"/>
          <p:cNvSpPr/>
          <p:nvPr/>
        </p:nvSpPr>
        <p:spPr>
          <a:xfrm>
            <a:off x="4399042" y="1562736"/>
            <a:ext cx="3383756" cy="4276090"/>
          </a:xfrm>
          <a:prstGeom prst="roundRect">
            <a:avLst>
              <a:gd name="adj" fmla="val 2909"/>
            </a:avLst>
          </a:prstGeom>
          <a:solidFill>
            <a:srgbClr val="FFFFFF"/>
          </a:solidFill>
          <a:ln w="6350">
            <a:solidFill>
              <a:srgbClr val="E3E1D8"/>
            </a:solidFill>
            <a:prstDash val="solid"/>
          </a:ln>
        </p:spPr>
      </p:sp>
      <p:pic>
        <p:nvPicPr>
          <p:cNvPr id="8" name="Image 1" descr="GraduationCap">    </p:cNvPr>
          <p:cNvPicPr>
            <a:picLocks noChangeAspect="1"/>
          </p:cNvPicPr>
          <p:nvPr/>
        </p:nvPicPr>
        <p:blipFill>
          <a:blip r:embed="rId2"/>
          <a:srcRect l="0" r="0" t="0" b="0"/>
          <a:stretch/>
        </p:blipFill>
        <p:spPr>
          <a:xfrm>
            <a:off x="4680347" y="1844039"/>
            <a:ext cx="279400" cy="279400"/>
          </a:xfrm>
          <a:prstGeom prst="rect">
            <a:avLst/>
          </a:prstGeom>
        </p:spPr>
      </p:pic>
      <p:sp>
        <p:nvSpPr>
          <p:cNvPr id="9" name="Text 5"/>
          <p:cNvSpPr/>
          <p:nvPr/>
        </p:nvSpPr>
        <p:spPr>
          <a:xfrm>
            <a:off x="4680347" y="2237739"/>
            <a:ext cx="290578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33D"/>
                </a:solidFill>
                <a:latin typeface="IBM Plex Sans" pitchFamily="34" charset="0"/>
                <a:ea typeface="IBM Plex Sans" pitchFamily="34" charset="-122"/>
                <a:cs typeface="IBM Plex Sans" pitchFamily="34" charset="-120"/>
              </a:rPr>
              <a:t>Academic Staff</a:t>
            </a:r>
            <a:endParaRPr lang="en-US" sz="1600" dirty="0"/>
          </a:p>
        </p:txBody>
      </p:sp>
      <p:sp>
        <p:nvSpPr>
          <p:cNvPr id="10" name="Text 6"/>
          <p:cNvSpPr/>
          <p:nvPr/>
        </p:nvSpPr>
        <p:spPr>
          <a:xfrm>
            <a:off x="4680347" y="2595882"/>
            <a:ext cx="2905781"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B6472"/>
                </a:solidFill>
                <a:latin typeface="IBM Plex Sans" pitchFamily="34" charset="0"/>
                <a:ea typeface="IBM Plex Sans" pitchFamily="34" charset="-122"/>
                <a:cs typeface="IBM Plex Sans" pitchFamily="34" charset="-120"/>
              </a:rPr>
              <a:t>Logs in and sees only the students in the module(s) assigned to them. Read-only for now; sets assessment weightings next.</a:t>
            </a:r>
            <a:endParaRPr lang="en-US" sz="1200" dirty="0"/>
          </a:p>
        </p:txBody>
      </p:sp>
      <p:sp>
        <p:nvSpPr>
          <p:cNvPr id="11" name="Shape 7"/>
          <p:cNvSpPr/>
          <p:nvPr/>
        </p:nvSpPr>
        <p:spPr>
          <a:xfrm>
            <a:off x="7992349" y="1562736"/>
            <a:ext cx="3383677" cy="4276090"/>
          </a:xfrm>
          <a:prstGeom prst="roundRect">
            <a:avLst>
              <a:gd name="adj" fmla="val 2909"/>
            </a:avLst>
          </a:prstGeom>
          <a:solidFill>
            <a:srgbClr val="FFFFFF"/>
          </a:solidFill>
          <a:ln w="6350">
            <a:solidFill>
              <a:srgbClr val="E3E1D8"/>
            </a:solidFill>
            <a:prstDash val="solid"/>
          </a:ln>
        </p:spPr>
      </p:sp>
      <p:pic>
        <p:nvPicPr>
          <p:cNvPr id="12" name="Image 2" descr="Settings">    </p:cNvPr>
          <p:cNvPicPr>
            <a:picLocks noChangeAspect="1"/>
          </p:cNvPicPr>
          <p:nvPr/>
        </p:nvPicPr>
        <p:blipFill>
          <a:blip r:embed="rId3"/>
          <a:srcRect l="0" r="0" t="0" b="0"/>
          <a:stretch/>
        </p:blipFill>
        <p:spPr>
          <a:xfrm>
            <a:off x="8273653" y="1844039"/>
            <a:ext cx="279400" cy="279400"/>
          </a:xfrm>
          <a:prstGeom prst="rect">
            <a:avLst/>
          </a:prstGeom>
        </p:spPr>
      </p:pic>
      <p:sp>
        <p:nvSpPr>
          <p:cNvPr id="13" name="Text 8"/>
          <p:cNvSpPr/>
          <p:nvPr/>
        </p:nvSpPr>
        <p:spPr>
          <a:xfrm>
            <a:off x="8273653" y="2237739"/>
            <a:ext cx="290569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33D"/>
                </a:solidFill>
                <a:latin typeface="IBM Plex Sans" pitchFamily="34" charset="0"/>
                <a:ea typeface="IBM Plex Sans" pitchFamily="34" charset="-122"/>
                <a:cs typeface="IBM Plex Sans" pitchFamily="34" charset="-120"/>
              </a:rPr>
              <a:t>Administrator</a:t>
            </a:r>
            <a:endParaRPr lang="en-US" sz="1600" dirty="0"/>
          </a:p>
        </p:txBody>
      </p:sp>
      <p:sp>
        <p:nvSpPr>
          <p:cNvPr id="14" name="Text 9"/>
          <p:cNvSpPr/>
          <p:nvPr/>
        </p:nvSpPr>
        <p:spPr>
          <a:xfrm>
            <a:off x="8273653" y="2595882"/>
            <a:ext cx="2905699"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B6472"/>
                </a:solidFill>
                <a:latin typeface="IBM Plex Sans" pitchFamily="34" charset="0"/>
                <a:ea typeface="IBM Plex Sans" pitchFamily="34" charset="-122"/>
                <a:cs typeface="IBM Plex Sans" pitchFamily="34" charset="-120"/>
              </a:rPr>
              <a:t>Imports programme and module data, manages accounts, and assigns each lecturer to the module(s) they teach.</a:t>
            </a:r>
            <a:endParaRPr lang="en-US" sz="1200" dirty="0"/>
          </a:p>
        </p:txBody>
      </p:sp>
      <p:sp>
        <p:nvSpPr>
          <p:cNvPr id="15" name="Text 10"/>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6" name="Text 11"/>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08A28"/>
                </a:solidFill>
                <a:latin typeface="IBM Plex Sans" pitchFamily="34" charset="0"/>
                <a:ea typeface="IBM Plex Sans" pitchFamily="34" charset="-122"/>
                <a:cs typeface="IBM Plex Sans" pitchFamily="34" charset="-120"/>
              </a:rPr>
              <a:t>DETERMINISTIC, NEVER AI</a:t>
            </a:r>
            <a:endParaRPr lang="en-US" sz="1200" dirty="0"/>
          </a:p>
        </p:txBody>
      </p:sp>
      <p:sp>
        <p:nvSpPr>
          <p:cNvPr id="3" name="Text 1"/>
          <p:cNvSpPr/>
          <p:nvPr/>
        </p:nvSpPr>
        <p:spPr>
          <a:xfrm>
            <a:off x="812800" y="1026164"/>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16233D"/>
                </a:solidFill>
                <a:latin typeface="EB Garamond" pitchFamily="34" charset="0"/>
                <a:ea typeface="EB Garamond" pitchFamily="34" charset="-122"/>
                <a:cs typeface="EB Garamond" pitchFamily="34" charset="-120"/>
              </a:rPr>
              <a:t>How DP progress is calculated</a:t>
            </a:r>
            <a:endParaRPr lang="en-US" sz="3000" dirty="0"/>
          </a:p>
        </p:txBody>
      </p:sp>
      <p:sp>
        <p:nvSpPr>
          <p:cNvPr id="4" name="Text 2"/>
          <p:cNvSpPr/>
          <p:nvPr/>
        </p:nvSpPr>
        <p:spPr>
          <a:xfrm>
            <a:off x="812800" y="1692914"/>
            <a:ext cx="5558280"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For each assessment category, only the best N of M recorded marks count, weighted by that category's share of the module. A trend classification tolerates exactly one reversal, so a student who starts badly but recovers still reads as improving.</a:t>
            </a:r>
            <a:endParaRPr lang="en-US" sz="1300" dirty="0"/>
          </a:p>
        </p:txBody>
      </p:sp>
      <p:sp>
        <p:nvSpPr>
          <p:cNvPr id="5" name="Shape 3"/>
          <p:cNvSpPr/>
          <p:nvPr/>
        </p:nvSpPr>
        <p:spPr>
          <a:xfrm>
            <a:off x="812800" y="2752092"/>
            <a:ext cx="5396389" cy="1061720"/>
          </a:xfrm>
          <a:prstGeom prst="roundRect">
            <a:avLst>
              <a:gd name="adj" fmla="val 8373"/>
            </a:avLst>
          </a:prstGeom>
          <a:solidFill>
            <a:srgbClr val="16233D"/>
          </a:solidFill>
          <a:ln/>
        </p:spPr>
      </p:sp>
      <p:sp>
        <p:nvSpPr>
          <p:cNvPr id="6" name="Text 4"/>
          <p:cNvSpPr/>
          <p:nvPr/>
        </p:nvSpPr>
        <p:spPr>
          <a:xfrm>
            <a:off x="1016000" y="2929892"/>
            <a:ext cx="513968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C08A28"/>
                </a:solidFill>
                <a:latin typeface="IBM Plex Sans" pitchFamily="34" charset="0"/>
                <a:ea typeface="IBM Plex Sans" pitchFamily="34" charset="-122"/>
                <a:cs typeface="IBM Plex Sans" pitchFamily="34" charset="-120"/>
              </a:rPr>
              <a:t>Worked example</a:t>
            </a:r>
            <a:endParaRPr lang="en-US" sz="1300" dirty="0"/>
          </a:p>
        </p:txBody>
      </p:sp>
      <p:sp>
        <p:nvSpPr>
          <p:cNvPr id="7" name="Text 5"/>
          <p:cNvSpPr/>
          <p:nvPr/>
        </p:nvSpPr>
        <p:spPr>
          <a:xfrm>
            <a:off x="1016000" y="3178814"/>
            <a:ext cx="513968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DEFF3"/>
                </a:solidFill>
                <a:latin typeface="IBM Plex Sans" pitchFamily="34" charset="0"/>
                <a:ea typeface="IBM Plex Sans" pitchFamily="34" charset="-122"/>
                <a:cs typeface="IBM Plex Sans" pitchFamily="34" charset="-120"/>
              </a:rPr>
              <a:t>Tests: 70%, 50%, 80% recorded, best 2 of 3 count → the 50% is displaced → category progress 75%.</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73349" y="1703074"/>
          <a:ext cx="4905851" cy="2311400"/>
        </p:xfrm>
        <a:graphic>
          <a:graphicData uri="http://schemas.openxmlformats.org/drawingml/2006/table">
            <a:tbl>
              <a:tblPr/>
              <a:tblGrid>
                <a:gridCol w="2256692"/>
                <a:gridCol w="2649160"/>
              </a:tblGrid>
              <a:tr h="330200">
                <a:tc>
                  <a:txBody>
                    <a:bodyPr/>
                    <a:lstStyle/>
                    <a:p>
                      <a:pPr indent="0" marL="0">
                        <a:lnSpc>
                          <a:spcPts val="1680"/>
                        </a:lnSpc>
                        <a:buNone/>
                      </a:pPr>
                      <a:r>
                        <a:rPr lang="en-US" sz="1200" b="1" dirty="0">
                          <a:solidFill>
                            <a:srgbClr val="FBFBF9"/>
                          </a:solidFill>
                          <a:latin typeface="IBM Plex Sans" pitchFamily="34" charset="0"/>
                          <a:ea typeface="IBM Plex Sans" pitchFamily="34" charset="-122"/>
                          <a:cs typeface="IBM Plex Sans" pitchFamily="34" charset="-120"/>
                        </a:rPr>
                        <a:t>Range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FBFBF9"/>
                          </a:solidFill>
                          <a:latin typeface="IBM Plex Sans" pitchFamily="34" charset="0"/>
                          <a:ea typeface="IBM Plex Sans" pitchFamily="34" charset="-122"/>
                          <a:cs typeface="IBM Plex Sans" pitchFamily="34" charset="-120"/>
                        </a:rPr>
                        <a:t>Band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30200">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75–100%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Very safe / excellent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70–75%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Safe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30200">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60–70%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Generally safe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50–60%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Pass, some 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30200">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40–50%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Danger, at 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0–40%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680"/>
                        </a:lnSpc>
                        <a:buNone/>
                      </a:pPr>
                      <a:r>
                        <a:rPr lang="en-US" sz="1200" dirty="0">
                          <a:solidFill>
                            <a:srgbClr val="16233D"/>
                          </a:solidFill>
                          <a:latin typeface="IBM Plex Sans" pitchFamily="34" charset="0"/>
                          <a:ea typeface="IBM Plex Sans" pitchFamily="34" charset="-122"/>
                          <a:cs typeface="IBM Plex Sans" pitchFamily="34" charset="-120"/>
                        </a:rPr>
                        <a:t>Critical / failing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9" name="Text 6"/>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0" name="Text 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AI-assisted feedback, not a chatbot</a:t>
            </a:r>
            <a:endParaRPr lang="en-US" sz="3200" dirty="0"/>
          </a:p>
        </p:txBody>
      </p:sp>
      <p:sp>
        <p:nvSpPr>
          <p:cNvPr id="3" name="Text 1"/>
          <p:cNvSpPr/>
          <p:nvPr/>
        </p:nvSpPr>
        <p:spPr>
          <a:xfrm>
            <a:off x="812800" y="1559564"/>
            <a:ext cx="1013777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Gemini is called once, automatically, right after a mark is uploaded. It only writes the wording — the band, the trend and the percentage are always decided by the deterministic engine first.</a:t>
            </a:r>
            <a:endParaRPr lang="en-US" sz="1400" dirty="0"/>
          </a:p>
        </p:txBody>
      </p:sp>
      <p:sp>
        <p:nvSpPr>
          <p:cNvPr id="4" name="Shape 2"/>
          <p:cNvSpPr/>
          <p:nvPr/>
        </p:nvSpPr>
        <p:spPr>
          <a:xfrm>
            <a:off x="815975" y="2720975"/>
            <a:ext cx="2152650" cy="1263650"/>
          </a:xfrm>
          <a:prstGeom prst="roundRect">
            <a:avLst>
              <a:gd name="adj" fmla="val 6784"/>
            </a:avLst>
          </a:prstGeom>
          <a:solidFill>
            <a:srgbClr val="FFFFFF"/>
          </a:solidFill>
          <a:ln w="6350">
            <a:solidFill>
              <a:srgbClr val="E3E1D8"/>
            </a:solidFill>
            <a:prstDash val="solid"/>
          </a:ln>
        </p:spPr>
      </p:sp>
      <p:pic>
        <p:nvPicPr>
          <p:cNvPr id="5" name="Image 0" descr="Lightning">    </p:cNvPr>
          <p:cNvPicPr>
            <a:picLocks noChangeAspect="1"/>
          </p:cNvPicPr>
          <p:nvPr/>
        </p:nvPicPr>
        <p:blipFill>
          <a:blip r:embed="rId1"/>
          <a:srcRect l="0" r="0" t="0" b="0"/>
          <a:stretch/>
        </p:blipFill>
        <p:spPr>
          <a:xfrm>
            <a:off x="1778000" y="3115314"/>
            <a:ext cx="228600" cy="228600"/>
          </a:xfrm>
          <a:prstGeom prst="rect">
            <a:avLst/>
          </a:prstGeom>
        </p:spPr>
      </p:pic>
      <p:sp>
        <p:nvSpPr>
          <p:cNvPr id="6" name="Text 3"/>
          <p:cNvSpPr/>
          <p:nvPr/>
        </p:nvSpPr>
        <p:spPr>
          <a:xfrm>
            <a:off x="1338898" y="3407414"/>
            <a:ext cx="1106805"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6233D"/>
                </a:solidFill>
                <a:latin typeface="IBM Plex Sans" pitchFamily="34" charset="0"/>
                <a:ea typeface="IBM Plex Sans" pitchFamily="34" charset="-122"/>
                <a:cs typeface="IBM Plex Sans" pitchFamily="34" charset="-120"/>
              </a:rPr>
              <a:t>Mark uploaded</a:t>
            </a:r>
            <a:endParaRPr lang="en-US" sz="1200" dirty="0"/>
          </a:p>
        </p:txBody>
      </p:sp>
      <p:sp>
        <p:nvSpPr>
          <p:cNvPr id="7" name="Shape 4"/>
          <p:cNvSpPr/>
          <p:nvPr/>
        </p:nvSpPr>
        <p:spPr>
          <a:xfrm>
            <a:off x="3609975" y="2720975"/>
            <a:ext cx="2152650" cy="1263650"/>
          </a:xfrm>
          <a:prstGeom prst="roundRect">
            <a:avLst>
              <a:gd name="adj" fmla="val 6784"/>
            </a:avLst>
          </a:prstGeom>
          <a:solidFill>
            <a:srgbClr val="FFFFFF"/>
          </a:solidFill>
          <a:ln w="6350">
            <a:solidFill>
              <a:srgbClr val="E3E1D8"/>
            </a:solidFill>
            <a:prstDash val="solid"/>
          </a:ln>
        </p:spPr>
      </p:sp>
      <p:pic>
        <p:nvPicPr>
          <p:cNvPr id="8" name="Image 1" descr="Chart">    </p:cNvPr>
          <p:cNvPicPr>
            <a:picLocks noChangeAspect="1"/>
          </p:cNvPicPr>
          <p:nvPr/>
        </p:nvPicPr>
        <p:blipFill>
          <a:blip r:embed="rId2"/>
          <a:srcRect l="0" r="0" t="0" b="0"/>
          <a:stretch/>
        </p:blipFill>
        <p:spPr>
          <a:xfrm>
            <a:off x="4572000" y="3115314"/>
            <a:ext cx="228600" cy="228600"/>
          </a:xfrm>
          <a:prstGeom prst="rect">
            <a:avLst/>
          </a:prstGeom>
        </p:spPr>
      </p:pic>
      <p:sp>
        <p:nvSpPr>
          <p:cNvPr id="9" name="Text 5"/>
          <p:cNvSpPr/>
          <p:nvPr/>
        </p:nvSpPr>
        <p:spPr>
          <a:xfrm>
            <a:off x="3925014" y="3407414"/>
            <a:ext cx="1522492"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6233D"/>
                </a:solidFill>
                <a:latin typeface="IBM Plex Sans" pitchFamily="34" charset="0"/>
                <a:ea typeface="IBM Plex Sans" pitchFamily="34" charset="-122"/>
                <a:cs typeface="IBM Plex Sans" pitchFamily="34" charset="-120"/>
              </a:rPr>
              <a:t>DP engine calculates</a:t>
            </a:r>
            <a:endParaRPr lang="en-US" sz="1200" dirty="0"/>
          </a:p>
        </p:txBody>
      </p:sp>
      <p:sp>
        <p:nvSpPr>
          <p:cNvPr id="10" name="Shape 6"/>
          <p:cNvSpPr/>
          <p:nvPr/>
        </p:nvSpPr>
        <p:spPr>
          <a:xfrm>
            <a:off x="6400800" y="2717800"/>
            <a:ext cx="2159000" cy="1270000"/>
          </a:xfrm>
          <a:prstGeom prst="roundRect">
            <a:avLst>
              <a:gd name="adj" fmla="val 7000"/>
            </a:avLst>
          </a:prstGeom>
          <a:solidFill>
            <a:srgbClr val="16233D"/>
          </a:solidFill>
          <a:ln/>
        </p:spPr>
      </p:sp>
      <p:pic>
        <p:nvPicPr>
          <p:cNvPr id="11" name="Image 2" descr="Chat">    </p:cNvPr>
          <p:cNvPicPr>
            <a:picLocks noChangeAspect="1"/>
          </p:cNvPicPr>
          <p:nvPr/>
        </p:nvPicPr>
        <p:blipFill>
          <a:blip r:embed="rId3"/>
          <a:srcRect l="0" r="0" t="0" b="0"/>
          <a:stretch/>
        </p:blipFill>
        <p:spPr>
          <a:xfrm>
            <a:off x="7366000" y="3115314"/>
            <a:ext cx="228600" cy="228600"/>
          </a:xfrm>
          <a:prstGeom prst="rect">
            <a:avLst/>
          </a:prstGeom>
        </p:spPr>
      </p:pic>
      <p:sp>
        <p:nvSpPr>
          <p:cNvPr id="12" name="Text 7"/>
          <p:cNvSpPr/>
          <p:nvPr/>
        </p:nvSpPr>
        <p:spPr>
          <a:xfrm>
            <a:off x="6658452" y="3407414"/>
            <a:ext cx="1643698"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FBFBF9"/>
                </a:solidFill>
                <a:latin typeface="IBM Plex Sans" pitchFamily="34" charset="0"/>
                <a:ea typeface="IBM Plex Sans" pitchFamily="34" charset="-122"/>
                <a:cs typeface="IBM Plex Sans" pitchFamily="34" charset="-120"/>
              </a:rPr>
              <a:t>Gemini writes wording</a:t>
            </a:r>
            <a:endParaRPr lang="en-US" sz="1200" dirty="0"/>
          </a:p>
        </p:txBody>
      </p:sp>
      <p:sp>
        <p:nvSpPr>
          <p:cNvPr id="13" name="Shape 8"/>
          <p:cNvSpPr/>
          <p:nvPr/>
        </p:nvSpPr>
        <p:spPr>
          <a:xfrm>
            <a:off x="9197975" y="2720975"/>
            <a:ext cx="2152650" cy="1263650"/>
          </a:xfrm>
          <a:prstGeom prst="roundRect">
            <a:avLst>
              <a:gd name="adj" fmla="val 6784"/>
            </a:avLst>
          </a:prstGeom>
          <a:solidFill>
            <a:srgbClr val="FFFFFF"/>
          </a:solidFill>
          <a:ln w="6350">
            <a:solidFill>
              <a:srgbClr val="E3E1D8"/>
            </a:solidFill>
            <a:prstDash val="solid"/>
          </a:ln>
        </p:spPr>
      </p:sp>
      <p:pic>
        <p:nvPicPr>
          <p:cNvPr id="14" name="Image 3" descr="CheckCircle">    </p:cNvPr>
          <p:cNvPicPr>
            <a:picLocks noChangeAspect="1"/>
          </p:cNvPicPr>
          <p:nvPr/>
        </p:nvPicPr>
        <p:blipFill>
          <a:blip r:embed="rId4"/>
          <a:srcRect l="0" r="0" t="0" b="0"/>
          <a:stretch/>
        </p:blipFill>
        <p:spPr>
          <a:xfrm>
            <a:off x="10160000" y="3115314"/>
            <a:ext cx="228600" cy="228600"/>
          </a:xfrm>
          <a:prstGeom prst="rect">
            <a:avLst/>
          </a:prstGeom>
        </p:spPr>
      </p:pic>
      <p:sp>
        <p:nvSpPr>
          <p:cNvPr id="15" name="Text 9"/>
          <p:cNvSpPr/>
          <p:nvPr/>
        </p:nvSpPr>
        <p:spPr>
          <a:xfrm>
            <a:off x="9443324" y="3407414"/>
            <a:ext cx="1661954"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6233D"/>
                </a:solidFill>
                <a:latin typeface="IBM Plex Sans" pitchFamily="34" charset="0"/>
                <a:ea typeface="IBM Plex Sans" pitchFamily="34" charset="-122"/>
                <a:cs typeface="IBM Plex Sans" pitchFamily="34" charset="-120"/>
              </a:rPr>
              <a:t>Student sees feedback</a:t>
            </a:r>
            <a:endParaRPr lang="en-US" sz="1200" dirty="0"/>
          </a:p>
        </p:txBody>
      </p:sp>
      <p:pic>
        <p:nvPicPr>
          <p:cNvPr id="16" name="Image 4" descr="connector">    </p:cNvPr>
          <p:cNvPicPr>
            <a:picLocks noChangeAspect="1"/>
          </p:cNvPicPr>
          <p:nvPr/>
        </p:nvPicPr>
        <p:blipFill>
          <a:blip r:embed="rId5"/>
          <a:srcRect l="0" r="0" t="0" b="0"/>
          <a:stretch/>
        </p:blipFill>
        <p:spPr>
          <a:xfrm>
            <a:off x="2908300" y="3289300"/>
            <a:ext cx="762000" cy="127000"/>
          </a:xfrm>
          <a:prstGeom prst="rect">
            <a:avLst/>
          </a:prstGeom>
        </p:spPr>
      </p:pic>
      <p:pic>
        <p:nvPicPr>
          <p:cNvPr id="17" name="Image 5" descr="connector">    </p:cNvPr>
          <p:cNvPicPr>
            <a:picLocks noChangeAspect="1"/>
          </p:cNvPicPr>
          <p:nvPr/>
        </p:nvPicPr>
        <p:blipFill>
          <a:blip r:embed="rId6"/>
          <a:srcRect l="0" r="0" t="0" b="0"/>
          <a:stretch/>
        </p:blipFill>
        <p:spPr>
          <a:xfrm>
            <a:off x="5702300" y="3289300"/>
            <a:ext cx="762000" cy="127000"/>
          </a:xfrm>
          <a:prstGeom prst="rect">
            <a:avLst/>
          </a:prstGeom>
        </p:spPr>
      </p:pic>
      <p:pic>
        <p:nvPicPr>
          <p:cNvPr id="18" name="Image 6" descr="connector">    </p:cNvPr>
          <p:cNvPicPr>
            <a:picLocks noChangeAspect="1"/>
          </p:cNvPicPr>
          <p:nvPr/>
        </p:nvPicPr>
        <p:blipFill>
          <a:blip r:embed="rId7"/>
          <a:srcRect l="0" r="0" t="0" b="0"/>
          <a:stretch/>
        </p:blipFill>
        <p:spPr>
          <a:xfrm>
            <a:off x="8496300" y="3289300"/>
            <a:ext cx="762000" cy="127000"/>
          </a:xfrm>
          <a:prstGeom prst="rect">
            <a:avLst/>
          </a:prstGeom>
        </p:spPr>
      </p:pic>
      <p:sp>
        <p:nvSpPr>
          <p:cNvPr id="19" name="Text 10"/>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20" name="Text 11"/>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Architecture at a glance</a:t>
            </a:r>
            <a:endParaRPr lang="en-US" sz="3200" dirty="0"/>
          </a:p>
        </p:txBody>
      </p:sp>
      <p:sp>
        <p:nvSpPr>
          <p:cNvPr id="3" name="Shape 1"/>
          <p:cNvSpPr/>
          <p:nvPr/>
        </p:nvSpPr>
        <p:spPr>
          <a:xfrm>
            <a:off x="815975" y="1537339"/>
            <a:ext cx="10560050" cy="588010"/>
          </a:xfrm>
          <a:prstGeom prst="roundRect">
            <a:avLst>
              <a:gd name="adj" fmla="val 14579"/>
            </a:avLst>
          </a:prstGeom>
          <a:solidFill>
            <a:srgbClr val="FFFFFF"/>
          </a:solidFill>
          <a:ln w="6350">
            <a:solidFill>
              <a:srgbClr val="E3E1D8"/>
            </a:solidFill>
            <a:prstDash val="solid"/>
          </a:ln>
        </p:spPr>
      </p:sp>
      <p:pic>
        <p:nvPicPr>
          <p:cNvPr id="4" name="Image 0" descr="Lock">    </p:cNvPr>
          <p:cNvPicPr>
            <a:picLocks noChangeAspect="1"/>
          </p:cNvPicPr>
          <p:nvPr/>
        </p:nvPicPr>
        <p:blipFill>
          <a:blip r:embed="rId1"/>
          <a:srcRect l="0" r="0" t="-1094" b="-1094"/>
          <a:stretch/>
        </p:blipFill>
        <p:spPr>
          <a:xfrm>
            <a:off x="1008380" y="1729742"/>
            <a:ext cx="203200" cy="25956"/>
          </a:xfrm>
          <a:prstGeom prst="rect">
            <a:avLst/>
          </a:prstGeom>
        </p:spPr>
      </p:pic>
      <p:sp>
        <p:nvSpPr>
          <p:cNvPr id="5" name="Text 2"/>
          <p:cNvSpPr/>
          <p:nvPr/>
        </p:nvSpPr>
        <p:spPr>
          <a:xfrm>
            <a:off x="1008380" y="1819194"/>
            <a:ext cx="10480497" cy="50641"/>
          </a:xfrm>
          <a:prstGeom prst="rect">
            <a:avLst/>
          </a:prstGeom>
          <a:noFill/>
          <a:ln/>
        </p:spPr>
        <p:txBody>
          <a:bodyPr wrap="square" lIns="0" tIns="0" rIns="0" bIns="0" rtlCol="0" anchor="t">
            <a:normAutofit/>
          </a:bodyPr>
          <a:lstStyle/>
          <a:p>
            <a:pPr algn="l" indent="0" marL="0">
              <a:lnSpc>
                <a:spcPts val="936"/>
              </a:lnSpc>
              <a:buNone/>
            </a:pPr>
            <a:r>
              <a:rPr lang="en-US" sz="780" b="1" dirty="0">
                <a:solidFill>
                  <a:srgbClr val="16233D"/>
                </a:solidFill>
                <a:latin typeface="IBM Plex Sans" pitchFamily="34" charset="0"/>
                <a:ea typeface="IBM Plex Sans" pitchFamily="34" charset="-122"/>
                <a:cs typeface="IBM Plex Sans" pitchFamily="34" charset="-120"/>
              </a:rPr>
              <a:t>Auth blueprint</a:t>
            </a:r>
            <a:endParaRPr lang="en-US" sz="780" dirty="0"/>
          </a:p>
        </p:txBody>
      </p:sp>
      <p:sp>
        <p:nvSpPr>
          <p:cNvPr id="6" name="Text 3"/>
          <p:cNvSpPr/>
          <p:nvPr/>
        </p:nvSpPr>
        <p:spPr>
          <a:xfrm>
            <a:off x="1008380" y="1907939"/>
            <a:ext cx="10480497" cy="50403"/>
          </a:xfrm>
          <a:prstGeom prst="rect">
            <a:avLst/>
          </a:prstGeom>
          <a:noFill/>
          <a:ln/>
        </p:spPr>
        <p:txBody>
          <a:bodyPr wrap="square" lIns="0" tIns="0" rIns="0" bIns="0" rtlCol="0" anchor="t">
            <a:normAutofit/>
          </a:bodyPr>
          <a:lstStyle/>
          <a:p>
            <a:pPr algn="l" indent="0" marL="0">
              <a:lnSpc>
                <a:spcPts val="924"/>
              </a:lnSpc>
              <a:buNone/>
            </a:pPr>
            <a:r>
              <a:rPr lang="en-US" sz="660" dirty="0">
                <a:solidFill>
                  <a:srgbClr val="5B6472"/>
                </a:solidFill>
                <a:latin typeface="IBM Plex Sans" pitchFamily="34" charset="0"/>
                <a:ea typeface="IBM Plex Sans" pitchFamily="34" charset="-122"/>
                <a:cs typeface="IBM Plex Sans" pitchFamily="34" charset="-120"/>
              </a:rPr>
              <a:t>Student number / email login, session management, role-based routing.</a:t>
            </a:r>
            <a:endParaRPr lang="en-US" sz="660" dirty="0"/>
          </a:p>
        </p:txBody>
      </p:sp>
      <p:sp>
        <p:nvSpPr>
          <p:cNvPr id="7" name="Shape 4"/>
          <p:cNvSpPr/>
          <p:nvPr/>
        </p:nvSpPr>
        <p:spPr>
          <a:xfrm>
            <a:off x="815975" y="2284096"/>
            <a:ext cx="10560050" cy="588010"/>
          </a:xfrm>
          <a:prstGeom prst="roundRect">
            <a:avLst>
              <a:gd name="adj" fmla="val 14579"/>
            </a:avLst>
          </a:prstGeom>
          <a:solidFill>
            <a:srgbClr val="FFFFFF"/>
          </a:solidFill>
          <a:ln w="6350">
            <a:solidFill>
              <a:srgbClr val="E3E1D8"/>
            </a:solidFill>
            <a:prstDash val="solid"/>
          </a:ln>
        </p:spPr>
      </p:sp>
      <p:pic>
        <p:nvPicPr>
          <p:cNvPr id="8" name="Image 1" descr="Users">    </p:cNvPr>
          <p:cNvPicPr>
            <a:picLocks noChangeAspect="1"/>
          </p:cNvPicPr>
          <p:nvPr/>
        </p:nvPicPr>
        <p:blipFill>
          <a:blip r:embed="rId2"/>
          <a:srcRect l="0" r="0" t="-1094" b="-1094"/>
          <a:stretch/>
        </p:blipFill>
        <p:spPr>
          <a:xfrm>
            <a:off x="1008380" y="2476500"/>
            <a:ext cx="203200" cy="25956"/>
          </a:xfrm>
          <a:prstGeom prst="rect">
            <a:avLst/>
          </a:prstGeom>
        </p:spPr>
      </p:pic>
      <p:sp>
        <p:nvSpPr>
          <p:cNvPr id="9" name="Text 5"/>
          <p:cNvSpPr/>
          <p:nvPr/>
        </p:nvSpPr>
        <p:spPr>
          <a:xfrm>
            <a:off x="1008380" y="2565958"/>
            <a:ext cx="10480497" cy="50641"/>
          </a:xfrm>
          <a:prstGeom prst="rect">
            <a:avLst/>
          </a:prstGeom>
          <a:noFill/>
          <a:ln/>
        </p:spPr>
        <p:txBody>
          <a:bodyPr wrap="square" lIns="0" tIns="0" rIns="0" bIns="0" rtlCol="0" anchor="t">
            <a:normAutofit/>
          </a:bodyPr>
          <a:lstStyle/>
          <a:p>
            <a:pPr algn="l" indent="0" marL="0">
              <a:lnSpc>
                <a:spcPts val="936"/>
              </a:lnSpc>
              <a:buNone/>
            </a:pPr>
            <a:r>
              <a:rPr lang="en-US" sz="780" b="1" dirty="0">
                <a:solidFill>
                  <a:srgbClr val="16233D"/>
                </a:solidFill>
                <a:latin typeface="IBM Plex Sans" pitchFamily="34" charset="0"/>
                <a:ea typeface="IBM Plex Sans" pitchFamily="34" charset="-122"/>
                <a:cs typeface="IBM Plex Sans" pitchFamily="34" charset="-120"/>
              </a:rPr>
              <a:t>Student blueprint</a:t>
            </a:r>
            <a:endParaRPr lang="en-US" sz="780" dirty="0"/>
          </a:p>
        </p:txBody>
      </p:sp>
      <p:sp>
        <p:nvSpPr>
          <p:cNvPr id="10" name="Text 6"/>
          <p:cNvSpPr/>
          <p:nvPr/>
        </p:nvSpPr>
        <p:spPr>
          <a:xfrm>
            <a:off x="1008380" y="2654697"/>
            <a:ext cx="10480497" cy="50403"/>
          </a:xfrm>
          <a:prstGeom prst="rect">
            <a:avLst/>
          </a:prstGeom>
          <a:noFill/>
          <a:ln/>
        </p:spPr>
        <p:txBody>
          <a:bodyPr wrap="square" lIns="0" tIns="0" rIns="0" bIns="0" rtlCol="0" anchor="t">
            <a:normAutofit/>
          </a:bodyPr>
          <a:lstStyle/>
          <a:p>
            <a:pPr algn="l" indent="0" marL="0">
              <a:lnSpc>
                <a:spcPts val="924"/>
              </a:lnSpc>
              <a:buNone/>
            </a:pPr>
            <a:r>
              <a:rPr lang="en-US" sz="660" dirty="0">
                <a:solidFill>
                  <a:srgbClr val="5B6472"/>
                </a:solidFill>
                <a:latin typeface="IBM Plex Sans" pitchFamily="34" charset="0"/>
                <a:ea typeface="IBM Plex Sans" pitchFamily="34" charset="-122"/>
                <a:cs typeface="IBM Plex Sans" pitchFamily="34" charset="-120"/>
              </a:rPr>
              <a:t>Programme/module selection, assessment configuration, mark upload.</a:t>
            </a:r>
            <a:endParaRPr lang="en-US" sz="660" dirty="0"/>
          </a:p>
        </p:txBody>
      </p:sp>
      <p:sp>
        <p:nvSpPr>
          <p:cNvPr id="11" name="Shape 7"/>
          <p:cNvSpPr/>
          <p:nvPr/>
        </p:nvSpPr>
        <p:spPr>
          <a:xfrm>
            <a:off x="815975" y="3030854"/>
            <a:ext cx="10560050" cy="588010"/>
          </a:xfrm>
          <a:prstGeom prst="roundRect">
            <a:avLst>
              <a:gd name="adj" fmla="val 14579"/>
            </a:avLst>
          </a:prstGeom>
          <a:solidFill>
            <a:srgbClr val="FFFFFF"/>
          </a:solidFill>
          <a:ln w="6350">
            <a:solidFill>
              <a:srgbClr val="E3E1D8"/>
            </a:solidFill>
            <a:prstDash val="solid"/>
          </a:ln>
        </p:spPr>
      </p:sp>
      <p:pic>
        <p:nvPicPr>
          <p:cNvPr id="12" name="Image 2" descr="GraduationCap">    </p:cNvPr>
          <p:cNvPicPr>
            <a:picLocks noChangeAspect="1"/>
          </p:cNvPicPr>
          <p:nvPr/>
        </p:nvPicPr>
        <p:blipFill>
          <a:blip r:embed="rId3"/>
          <a:srcRect l="0" r="0" t="-1094" b="-1094"/>
          <a:stretch/>
        </p:blipFill>
        <p:spPr>
          <a:xfrm>
            <a:off x="1008380" y="3223264"/>
            <a:ext cx="203200" cy="25956"/>
          </a:xfrm>
          <a:prstGeom prst="rect">
            <a:avLst/>
          </a:prstGeom>
        </p:spPr>
      </p:pic>
      <p:sp>
        <p:nvSpPr>
          <p:cNvPr id="13" name="Text 8"/>
          <p:cNvSpPr/>
          <p:nvPr/>
        </p:nvSpPr>
        <p:spPr>
          <a:xfrm>
            <a:off x="1008380" y="3312716"/>
            <a:ext cx="10480497" cy="50641"/>
          </a:xfrm>
          <a:prstGeom prst="rect">
            <a:avLst/>
          </a:prstGeom>
          <a:noFill/>
          <a:ln/>
        </p:spPr>
        <p:txBody>
          <a:bodyPr wrap="square" lIns="0" tIns="0" rIns="0" bIns="0" rtlCol="0" anchor="t">
            <a:normAutofit/>
          </a:bodyPr>
          <a:lstStyle/>
          <a:p>
            <a:pPr algn="l" indent="0" marL="0">
              <a:lnSpc>
                <a:spcPts val="936"/>
              </a:lnSpc>
              <a:buNone/>
            </a:pPr>
            <a:r>
              <a:rPr lang="en-US" sz="780" b="1" dirty="0">
                <a:solidFill>
                  <a:srgbClr val="16233D"/>
                </a:solidFill>
                <a:latin typeface="IBM Plex Sans" pitchFamily="34" charset="0"/>
                <a:ea typeface="IBM Plex Sans" pitchFamily="34" charset="-122"/>
                <a:cs typeface="IBM Plex Sans" pitchFamily="34" charset="-120"/>
              </a:rPr>
              <a:t>Staff blueprint</a:t>
            </a:r>
            <a:endParaRPr lang="en-US" sz="780" dirty="0"/>
          </a:p>
        </p:txBody>
      </p:sp>
      <p:sp>
        <p:nvSpPr>
          <p:cNvPr id="14" name="Text 9"/>
          <p:cNvSpPr/>
          <p:nvPr/>
        </p:nvSpPr>
        <p:spPr>
          <a:xfrm>
            <a:off x="1008380" y="3401461"/>
            <a:ext cx="10480497" cy="50403"/>
          </a:xfrm>
          <a:prstGeom prst="rect">
            <a:avLst/>
          </a:prstGeom>
          <a:noFill/>
          <a:ln/>
        </p:spPr>
        <p:txBody>
          <a:bodyPr wrap="square" lIns="0" tIns="0" rIns="0" bIns="0" rtlCol="0" anchor="t">
            <a:normAutofit/>
          </a:bodyPr>
          <a:lstStyle/>
          <a:p>
            <a:pPr algn="l" indent="0" marL="0">
              <a:lnSpc>
                <a:spcPts val="924"/>
              </a:lnSpc>
              <a:buNone/>
            </a:pPr>
            <a:r>
              <a:rPr lang="en-US" sz="660" dirty="0">
                <a:solidFill>
                  <a:srgbClr val="5B6472"/>
                </a:solidFill>
                <a:latin typeface="IBM Plex Sans" pitchFamily="34" charset="0"/>
                <a:ea typeface="IBM Plex Sans" pitchFamily="34" charset="-122"/>
                <a:cs typeface="IBM Plex Sans" pitchFamily="34" charset="-120"/>
              </a:rPr>
              <a:t>Read-only progress view, scoped by lecturer→module assignment.</a:t>
            </a:r>
            <a:endParaRPr lang="en-US" sz="660" dirty="0"/>
          </a:p>
        </p:txBody>
      </p:sp>
      <p:sp>
        <p:nvSpPr>
          <p:cNvPr id="15" name="Shape 10"/>
          <p:cNvSpPr/>
          <p:nvPr/>
        </p:nvSpPr>
        <p:spPr>
          <a:xfrm>
            <a:off x="812800" y="3774442"/>
            <a:ext cx="10566400" cy="584200"/>
          </a:xfrm>
          <a:prstGeom prst="roundRect">
            <a:avLst>
              <a:gd name="adj" fmla="val 15217"/>
            </a:avLst>
          </a:prstGeom>
          <a:solidFill>
            <a:srgbClr val="16233D"/>
          </a:solidFill>
          <a:ln/>
        </p:spPr>
      </p:sp>
      <p:pic>
        <p:nvPicPr>
          <p:cNvPr id="16" name="Image 3" descr="Activity">    </p:cNvPr>
          <p:cNvPicPr>
            <a:picLocks noChangeAspect="1"/>
          </p:cNvPicPr>
          <p:nvPr/>
        </p:nvPicPr>
        <p:blipFill>
          <a:blip r:embed="rId4"/>
          <a:srcRect l="0" r="0" t="-1094" b="-1094"/>
          <a:stretch/>
        </p:blipFill>
        <p:spPr>
          <a:xfrm>
            <a:off x="1003300" y="3964942"/>
            <a:ext cx="203200" cy="25956"/>
          </a:xfrm>
          <a:prstGeom prst="rect">
            <a:avLst/>
          </a:prstGeom>
        </p:spPr>
      </p:pic>
      <p:sp>
        <p:nvSpPr>
          <p:cNvPr id="17" name="Text 11"/>
          <p:cNvSpPr/>
          <p:nvPr/>
        </p:nvSpPr>
        <p:spPr>
          <a:xfrm>
            <a:off x="1003300" y="4054394"/>
            <a:ext cx="10490962" cy="50641"/>
          </a:xfrm>
          <a:prstGeom prst="rect">
            <a:avLst/>
          </a:prstGeom>
          <a:noFill/>
          <a:ln/>
        </p:spPr>
        <p:txBody>
          <a:bodyPr wrap="square" lIns="0" tIns="0" rIns="0" bIns="0" rtlCol="0" anchor="t">
            <a:normAutofit/>
          </a:bodyPr>
          <a:lstStyle/>
          <a:p>
            <a:pPr algn="l" indent="0" marL="0">
              <a:lnSpc>
                <a:spcPts val="936"/>
              </a:lnSpc>
              <a:buNone/>
            </a:pPr>
            <a:r>
              <a:rPr lang="en-US" sz="780" b="1" dirty="0">
                <a:solidFill>
                  <a:srgbClr val="FBFBF9"/>
                </a:solidFill>
                <a:latin typeface="IBM Plex Sans" pitchFamily="34" charset="0"/>
                <a:ea typeface="IBM Plex Sans" pitchFamily="34" charset="-122"/>
                <a:cs typeface="IBM Plex Sans" pitchFamily="34" charset="-120"/>
              </a:rPr>
              <a:t>DP Progress Engine</a:t>
            </a:r>
            <a:endParaRPr lang="en-US" sz="780" dirty="0"/>
          </a:p>
        </p:txBody>
      </p:sp>
      <p:sp>
        <p:nvSpPr>
          <p:cNvPr id="18" name="Text 12"/>
          <p:cNvSpPr/>
          <p:nvPr/>
        </p:nvSpPr>
        <p:spPr>
          <a:xfrm>
            <a:off x="1003300" y="4143139"/>
            <a:ext cx="10490962" cy="50403"/>
          </a:xfrm>
          <a:prstGeom prst="rect">
            <a:avLst/>
          </a:prstGeom>
          <a:noFill/>
          <a:ln/>
        </p:spPr>
        <p:txBody>
          <a:bodyPr wrap="square" lIns="0" tIns="0" rIns="0" bIns="0" rtlCol="0" anchor="t">
            <a:normAutofit/>
          </a:bodyPr>
          <a:lstStyle/>
          <a:p>
            <a:pPr algn="l" indent="0" marL="0">
              <a:lnSpc>
                <a:spcPts val="924"/>
              </a:lnSpc>
              <a:buNone/>
            </a:pPr>
            <a:r>
              <a:rPr lang="en-US" sz="660" dirty="0">
                <a:solidFill>
                  <a:srgbClr val="BFC7D6"/>
                </a:solidFill>
                <a:latin typeface="IBM Plex Sans" pitchFamily="34" charset="0"/>
                <a:ea typeface="IBM Plex Sans" pitchFamily="34" charset="-122"/>
                <a:cs typeface="IBM Plex Sans" pitchFamily="34" charset="-120"/>
              </a:rPr>
              <a:t>Pure, deterministic calculation — weighting, thresholds, trend.</a:t>
            </a:r>
            <a:endParaRPr lang="en-US" sz="660" dirty="0"/>
          </a:p>
        </p:txBody>
      </p:sp>
      <p:sp>
        <p:nvSpPr>
          <p:cNvPr id="19" name="Shape 13"/>
          <p:cNvSpPr/>
          <p:nvPr/>
        </p:nvSpPr>
        <p:spPr>
          <a:xfrm>
            <a:off x="812800" y="4511042"/>
            <a:ext cx="10566400" cy="584200"/>
          </a:xfrm>
          <a:prstGeom prst="roundRect">
            <a:avLst>
              <a:gd name="adj" fmla="val 15217"/>
            </a:avLst>
          </a:prstGeom>
          <a:solidFill>
            <a:srgbClr val="16233D"/>
          </a:solidFill>
          <a:ln/>
        </p:spPr>
      </p:sp>
      <p:pic>
        <p:nvPicPr>
          <p:cNvPr id="20" name="Image 4" descr="Chat">    </p:cNvPr>
          <p:cNvPicPr>
            <a:picLocks noChangeAspect="1"/>
          </p:cNvPicPr>
          <p:nvPr/>
        </p:nvPicPr>
        <p:blipFill>
          <a:blip r:embed="rId5"/>
          <a:srcRect l="0" r="0" t="-1094" b="-1094"/>
          <a:stretch/>
        </p:blipFill>
        <p:spPr>
          <a:xfrm>
            <a:off x="1003300" y="4701542"/>
            <a:ext cx="203200" cy="25956"/>
          </a:xfrm>
          <a:prstGeom prst="rect">
            <a:avLst/>
          </a:prstGeom>
        </p:spPr>
      </p:pic>
      <p:sp>
        <p:nvSpPr>
          <p:cNvPr id="21" name="Text 14"/>
          <p:cNvSpPr/>
          <p:nvPr/>
        </p:nvSpPr>
        <p:spPr>
          <a:xfrm>
            <a:off x="1003300" y="4790994"/>
            <a:ext cx="10490962" cy="50641"/>
          </a:xfrm>
          <a:prstGeom prst="rect">
            <a:avLst/>
          </a:prstGeom>
          <a:noFill/>
          <a:ln/>
        </p:spPr>
        <p:txBody>
          <a:bodyPr wrap="square" lIns="0" tIns="0" rIns="0" bIns="0" rtlCol="0" anchor="t">
            <a:normAutofit/>
          </a:bodyPr>
          <a:lstStyle/>
          <a:p>
            <a:pPr algn="l" indent="0" marL="0">
              <a:lnSpc>
                <a:spcPts val="936"/>
              </a:lnSpc>
              <a:buNone/>
            </a:pPr>
            <a:r>
              <a:rPr lang="en-US" sz="780" b="1" dirty="0">
                <a:solidFill>
                  <a:srgbClr val="FBFBF9"/>
                </a:solidFill>
                <a:latin typeface="IBM Plex Sans" pitchFamily="34" charset="0"/>
                <a:ea typeface="IBM Plex Sans" pitchFamily="34" charset="-122"/>
                <a:cs typeface="IBM Plex Sans" pitchFamily="34" charset="-120"/>
              </a:rPr>
              <a:t>AI Feedback Service</a:t>
            </a:r>
            <a:endParaRPr lang="en-US" sz="780" dirty="0"/>
          </a:p>
        </p:txBody>
      </p:sp>
      <p:sp>
        <p:nvSpPr>
          <p:cNvPr id="22" name="Text 15"/>
          <p:cNvSpPr/>
          <p:nvPr/>
        </p:nvSpPr>
        <p:spPr>
          <a:xfrm>
            <a:off x="1003300" y="4879739"/>
            <a:ext cx="10490962" cy="50403"/>
          </a:xfrm>
          <a:prstGeom prst="rect">
            <a:avLst/>
          </a:prstGeom>
          <a:noFill/>
          <a:ln/>
        </p:spPr>
        <p:txBody>
          <a:bodyPr wrap="square" lIns="0" tIns="0" rIns="0" bIns="0" rtlCol="0" anchor="t">
            <a:normAutofit/>
          </a:bodyPr>
          <a:lstStyle/>
          <a:p>
            <a:pPr algn="l" indent="0" marL="0">
              <a:lnSpc>
                <a:spcPts val="924"/>
              </a:lnSpc>
              <a:buNone/>
            </a:pPr>
            <a:r>
              <a:rPr lang="en-US" sz="660" dirty="0">
                <a:solidFill>
                  <a:srgbClr val="BFC7D6"/>
                </a:solidFill>
                <a:latin typeface="IBM Plex Sans" pitchFamily="34" charset="0"/>
                <a:ea typeface="IBM Plex Sans" pitchFamily="34" charset="-122"/>
                <a:cs typeface="IBM Plex Sans" pitchFamily="34" charset="-120"/>
              </a:rPr>
              <a:t>Gemini API, wording only, triggered once per upload.</a:t>
            </a:r>
            <a:endParaRPr lang="en-US" sz="660" dirty="0"/>
          </a:p>
        </p:txBody>
      </p:sp>
      <p:sp>
        <p:nvSpPr>
          <p:cNvPr id="23" name="Shape 16"/>
          <p:cNvSpPr/>
          <p:nvPr/>
        </p:nvSpPr>
        <p:spPr>
          <a:xfrm>
            <a:off x="815975" y="5250817"/>
            <a:ext cx="10560050" cy="588010"/>
          </a:xfrm>
          <a:prstGeom prst="roundRect">
            <a:avLst>
              <a:gd name="adj" fmla="val 14579"/>
            </a:avLst>
          </a:prstGeom>
          <a:solidFill>
            <a:srgbClr val="FFFFFF"/>
          </a:solidFill>
          <a:ln w="6350">
            <a:solidFill>
              <a:srgbClr val="E3E1D8"/>
            </a:solidFill>
            <a:prstDash val="solid"/>
          </a:ln>
        </p:spPr>
      </p:sp>
      <p:pic>
        <p:nvPicPr>
          <p:cNvPr id="24" name="Image 5" descr="Database">    </p:cNvPr>
          <p:cNvPicPr>
            <a:picLocks noChangeAspect="1"/>
          </p:cNvPicPr>
          <p:nvPr/>
        </p:nvPicPr>
        <p:blipFill>
          <a:blip r:embed="rId6"/>
          <a:srcRect l="0" r="0" t="-1094" b="-1094"/>
          <a:stretch/>
        </p:blipFill>
        <p:spPr>
          <a:xfrm>
            <a:off x="1008380" y="5443221"/>
            <a:ext cx="203200" cy="25956"/>
          </a:xfrm>
          <a:prstGeom prst="rect">
            <a:avLst/>
          </a:prstGeom>
        </p:spPr>
      </p:pic>
      <p:sp>
        <p:nvSpPr>
          <p:cNvPr id="25" name="Text 17"/>
          <p:cNvSpPr/>
          <p:nvPr/>
        </p:nvSpPr>
        <p:spPr>
          <a:xfrm>
            <a:off x="1008380" y="5532679"/>
            <a:ext cx="10480497" cy="50641"/>
          </a:xfrm>
          <a:prstGeom prst="rect">
            <a:avLst/>
          </a:prstGeom>
          <a:noFill/>
          <a:ln/>
        </p:spPr>
        <p:txBody>
          <a:bodyPr wrap="square" lIns="0" tIns="0" rIns="0" bIns="0" rtlCol="0" anchor="t">
            <a:normAutofit/>
          </a:bodyPr>
          <a:lstStyle/>
          <a:p>
            <a:pPr algn="l" indent="0" marL="0">
              <a:lnSpc>
                <a:spcPts val="936"/>
              </a:lnSpc>
              <a:buNone/>
            </a:pPr>
            <a:r>
              <a:rPr lang="en-US" sz="780" b="1" dirty="0">
                <a:solidFill>
                  <a:srgbClr val="16233D"/>
                </a:solidFill>
                <a:latin typeface="IBM Plex Sans" pitchFamily="34" charset="0"/>
                <a:ea typeface="IBM Plex Sans" pitchFamily="34" charset="-122"/>
                <a:cs typeface="IBM Plex Sans" pitchFamily="34" charset="-120"/>
              </a:rPr>
              <a:t>Admin blueprint &amp; data layer</a:t>
            </a:r>
            <a:endParaRPr lang="en-US" sz="780" dirty="0"/>
          </a:p>
        </p:txBody>
      </p:sp>
      <p:sp>
        <p:nvSpPr>
          <p:cNvPr id="26" name="Text 18"/>
          <p:cNvSpPr/>
          <p:nvPr/>
        </p:nvSpPr>
        <p:spPr>
          <a:xfrm>
            <a:off x="1008380" y="5621418"/>
            <a:ext cx="10480497" cy="50403"/>
          </a:xfrm>
          <a:prstGeom prst="rect">
            <a:avLst/>
          </a:prstGeom>
          <a:noFill/>
          <a:ln/>
        </p:spPr>
        <p:txBody>
          <a:bodyPr wrap="square" lIns="0" tIns="0" rIns="0" bIns="0" rtlCol="0" anchor="t">
            <a:normAutofit/>
          </a:bodyPr>
          <a:lstStyle/>
          <a:p>
            <a:pPr algn="l" indent="0" marL="0">
              <a:lnSpc>
                <a:spcPts val="924"/>
              </a:lnSpc>
              <a:buNone/>
            </a:pPr>
            <a:r>
              <a:rPr lang="en-US" sz="660" dirty="0">
                <a:solidFill>
                  <a:srgbClr val="5B6472"/>
                </a:solidFill>
                <a:latin typeface="IBM Plex Sans" pitchFamily="34" charset="0"/>
                <a:ea typeface="IBM Plex Sans" pitchFamily="34" charset="-122"/>
                <a:cs typeface="IBM Plex Sans" pitchFamily="34" charset="-120"/>
              </a:rPr>
              <a:t>Programme/module CSV import, user accounts, lecturer–module links.</a:t>
            </a:r>
            <a:endParaRPr lang="en-US" sz="660" dirty="0"/>
          </a:p>
        </p:txBody>
      </p:sp>
      <p:sp>
        <p:nvSpPr>
          <p:cNvPr id="27" name="Text 19"/>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28"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Documentation delivered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44324"/>
          <a:ext cx="10556240" cy="2015490"/>
        </p:xfrm>
        <a:graphic>
          <a:graphicData uri="http://schemas.openxmlformats.org/drawingml/2006/table">
            <a:tbl>
              <a:tblPr/>
              <a:tblGrid>
                <a:gridCol w="2744622"/>
                <a:gridCol w="7811618"/>
              </a:tblGrid>
              <a:tr h="356870">
                <a:tc>
                  <a:txBody>
                    <a:bodyPr/>
                    <a:lstStyle/>
                    <a:p>
                      <a:pPr indent="0" marL="0">
                        <a:lnSpc>
                          <a:spcPts val="1820"/>
                        </a:lnSpc>
                        <a:buNone/>
                      </a:pPr>
                      <a:r>
                        <a:rPr lang="en-US" sz="1300" b="1" dirty="0">
                          <a:solidFill>
                            <a:srgbClr val="FBFBF9"/>
                          </a:solidFill>
                          <a:latin typeface="IBM Plex Sans" pitchFamily="34" charset="0"/>
                          <a:ea typeface="IBM Plex Sans" pitchFamily="34" charset="-122"/>
                          <a:cs typeface="IBM Plex Sans" pitchFamily="34" charset="-120"/>
                        </a:rPr>
                        <a:t>Document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820"/>
                        </a:lnSpc>
                        <a:buNone/>
                      </a:pPr>
                      <a:r>
                        <a:rPr lang="en-US" sz="1300" b="1" dirty="0">
                          <a:solidFill>
                            <a:srgbClr val="FBFBF9"/>
                          </a:solidFill>
                          <a:latin typeface="IBM Plex Sans" pitchFamily="34" charset="0"/>
                          <a:ea typeface="IBM Plex Sans" pitchFamily="34" charset="-122"/>
                          <a:cs typeface="IBM Plex Sans" pitchFamily="34" charset="-120"/>
                        </a:rPr>
                        <a:t>Contents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Proposal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Scoped and rescoped against the marking rubric across several review passes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8801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SRS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Per-actor use cases — separate Login for Student, Academic Staff and Administrator, each with its own diagram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SDD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8 architecture components, 5 sequence diagrams for the key use-case realizations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870">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Test Plan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IEEE 829-style plan covering the DP engine, integration flows and access control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4" name="Text 1"/>
          <p:cNvSpPr/>
          <p:nvPr/>
        </p:nvSpPr>
        <p:spPr>
          <a:xfrm>
            <a:off x="812800" y="3813814"/>
            <a:ext cx="104648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diagram is a real Visio (.vsdx) source, not an AI-generated image, and every document follows one consistent structure and citation style throughout.</a:t>
            </a:r>
            <a:endParaRPr lang="en-US" sz="1300" dirty="0"/>
          </a:p>
        </p:txBody>
      </p:sp>
      <p:sp>
        <p:nvSpPr>
          <p:cNvPr id="5" name="Text 2"/>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Tested, not just built</a:t>
            </a:r>
            <a:endParaRPr lang="en-US" sz="3200" dirty="0"/>
          </a:p>
        </p:txBody>
      </p:sp>
      <p:sp>
        <p:nvSpPr>
          <p:cNvPr id="3" name="Shape 1"/>
          <p:cNvSpPr/>
          <p:nvPr/>
        </p:nvSpPr>
        <p:spPr>
          <a:xfrm>
            <a:off x="812800" y="2367279"/>
            <a:ext cx="2667000" cy="2667000"/>
          </a:xfrm>
          <a:prstGeom prst="roundRect">
            <a:avLst>
              <a:gd name="adj" fmla="val 50000"/>
            </a:avLst>
          </a:prstGeom>
          <a:solidFill>
            <a:srgbClr val="16233D"/>
          </a:solidFill>
          <a:ln/>
        </p:spPr>
      </p:sp>
      <p:sp>
        <p:nvSpPr>
          <p:cNvPr id="4" name="Text 2"/>
          <p:cNvSpPr/>
          <p:nvPr/>
        </p:nvSpPr>
        <p:spPr>
          <a:xfrm>
            <a:off x="1755378" y="3026414"/>
            <a:ext cx="832644" cy="1092200"/>
          </a:xfrm>
          <a:prstGeom prst="rect">
            <a:avLst/>
          </a:prstGeom>
          <a:noFill/>
          <a:ln/>
        </p:spPr>
        <p:txBody>
          <a:bodyPr wrap="square" lIns="0" tIns="0" rIns="0" bIns="0" rtlCol="0" anchor="t">
            <a:normAutofit/>
          </a:bodyPr>
          <a:lstStyle/>
          <a:p>
            <a:pPr algn="l" indent="0" marL="0">
              <a:lnSpc>
                <a:spcPts val="8400"/>
              </a:lnSpc>
              <a:buNone/>
            </a:pPr>
            <a:r>
              <a:rPr lang="en-US" sz="6000" b="1" dirty="0">
                <a:solidFill>
                  <a:srgbClr val="C08A28"/>
                </a:solidFill>
                <a:latin typeface="EB Garamond" pitchFamily="34" charset="0"/>
                <a:ea typeface="EB Garamond" pitchFamily="34" charset="-122"/>
                <a:cs typeface="EB Garamond" pitchFamily="34" charset="-120"/>
              </a:rPr>
              <a:t>17</a:t>
            </a:r>
            <a:endParaRPr lang="en-US" sz="6000" dirty="0"/>
          </a:p>
        </p:txBody>
      </p:sp>
      <p:sp>
        <p:nvSpPr>
          <p:cNvPr id="5" name="Text 3"/>
          <p:cNvSpPr/>
          <p:nvPr/>
        </p:nvSpPr>
        <p:spPr>
          <a:xfrm>
            <a:off x="1107599" y="4144014"/>
            <a:ext cx="21396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BF9"/>
                </a:solidFill>
                <a:latin typeface="IBM Plex Sans" pitchFamily="34" charset="0"/>
                <a:ea typeface="IBM Plex Sans" pitchFamily="34" charset="-122"/>
                <a:cs typeface="IBM Plex Sans" pitchFamily="34" charset="-120"/>
              </a:rPr>
              <a:t>automated tests, all passing</a:t>
            </a:r>
            <a:endParaRPr lang="en-US" sz="1300" dirty="0"/>
          </a:p>
        </p:txBody>
      </p:sp>
      <p:sp>
        <p:nvSpPr>
          <p:cNvPr id="6" name="Shape 4"/>
          <p:cNvSpPr/>
          <p:nvPr/>
        </p:nvSpPr>
        <p:spPr>
          <a:xfrm>
            <a:off x="3686175" y="2526667"/>
            <a:ext cx="7689850" cy="770890"/>
          </a:xfrm>
          <a:prstGeom prst="roundRect">
            <a:avLst>
              <a:gd name="adj" fmla="val 9473"/>
            </a:avLst>
          </a:prstGeom>
          <a:solidFill>
            <a:srgbClr val="FFFFFF"/>
          </a:solidFill>
          <a:ln w="6350">
            <a:solidFill>
              <a:srgbClr val="E3E1D8"/>
            </a:solidFill>
            <a:prstDash val="solid"/>
          </a:ln>
        </p:spPr>
      </p:sp>
      <p:pic>
        <p:nvPicPr>
          <p:cNvPr id="7" name="Image 0" descr="CheckCircle">    </p:cNvPr>
          <p:cNvPicPr>
            <a:picLocks noChangeAspect="1"/>
          </p:cNvPicPr>
          <p:nvPr/>
        </p:nvPicPr>
        <p:blipFill>
          <a:blip r:embed="rId1"/>
          <a:srcRect l="0" r="0" t="-334" b="-334"/>
          <a:stretch/>
        </p:blipFill>
        <p:spPr>
          <a:xfrm>
            <a:off x="3865880" y="2810514"/>
            <a:ext cx="201851" cy="203200"/>
          </a:xfrm>
          <a:prstGeom prst="rect">
            <a:avLst/>
          </a:prstGeom>
        </p:spPr>
      </p:pic>
      <p:sp>
        <p:nvSpPr>
          <p:cNvPr id="8" name="Text 5"/>
          <p:cNvSpPr/>
          <p:nvPr/>
        </p:nvSpPr>
        <p:spPr>
          <a:xfrm>
            <a:off x="4194731" y="2680971"/>
            <a:ext cx="721163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13 DP engine unit tests — weighting, thresholds, best-N-of-M displacement, trend classification</a:t>
            </a:r>
            <a:endParaRPr lang="en-US" sz="1300" dirty="0"/>
          </a:p>
        </p:txBody>
      </p:sp>
      <p:sp>
        <p:nvSpPr>
          <p:cNvPr id="9" name="Shape 6"/>
          <p:cNvSpPr/>
          <p:nvPr/>
        </p:nvSpPr>
        <p:spPr>
          <a:xfrm>
            <a:off x="3686175" y="3430904"/>
            <a:ext cx="7689850" cy="770890"/>
          </a:xfrm>
          <a:prstGeom prst="roundRect">
            <a:avLst>
              <a:gd name="adj" fmla="val 9473"/>
            </a:avLst>
          </a:prstGeom>
          <a:solidFill>
            <a:srgbClr val="FFFFFF"/>
          </a:solidFill>
          <a:ln w="6350">
            <a:solidFill>
              <a:srgbClr val="E3E1D8"/>
            </a:solidFill>
            <a:prstDash val="solid"/>
          </a:ln>
        </p:spPr>
      </p:sp>
      <p:pic>
        <p:nvPicPr>
          <p:cNvPr id="10" name="Image 1" descr="CheckCircle">    </p:cNvPr>
          <p:cNvPicPr>
            <a:picLocks noChangeAspect="1"/>
          </p:cNvPicPr>
          <p:nvPr/>
        </p:nvPicPr>
        <p:blipFill>
          <a:blip r:embed="rId2"/>
          <a:srcRect l="-647" r="-647" t="0" b="0"/>
          <a:stretch/>
        </p:blipFill>
        <p:spPr>
          <a:xfrm>
            <a:off x="3865880" y="3714750"/>
            <a:ext cx="186531" cy="203200"/>
          </a:xfrm>
          <a:prstGeom prst="rect">
            <a:avLst/>
          </a:prstGeom>
        </p:spPr>
      </p:pic>
      <p:sp>
        <p:nvSpPr>
          <p:cNvPr id="11" name="Text 7"/>
          <p:cNvSpPr/>
          <p:nvPr/>
        </p:nvSpPr>
        <p:spPr>
          <a:xfrm>
            <a:off x="4179411" y="3585214"/>
            <a:ext cx="722741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2 integration tests — full student flow and weighting validation, against a real Flask + SQLAlchemy stack</a:t>
            </a:r>
            <a:endParaRPr lang="en-US" sz="1300" dirty="0"/>
          </a:p>
        </p:txBody>
      </p:sp>
      <p:sp>
        <p:nvSpPr>
          <p:cNvPr id="12" name="Shape 8"/>
          <p:cNvSpPr/>
          <p:nvPr/>
        </p:nvSpPr>
        <p:spPr>
          <a:xfrm>
            <a:off x="3686175" y="4335146"/>
            <a:ext cx="7689850" cy="539750"/>
          </a:xfrm>
          <a:prstGeom prst="roundRect">
            <a:avLst>
              <a:gd name="adj" fmla="val 13529"/>
            </a:avLst>
          </a:prstGeom>
          <a:solidFill>
            <a:srgbClr val="FFFFFF"/>
          </a:solidFill>
          <a:ln w="6350">
            <a:solidFill>
              <a:srgbClr val="E3E1D8"/>
            </a:solidFill>
            <a:prstDash val="solid"/>
          </a:ln>
        </p:spPr>
      </p:sp>
      <p:pic>
        <p:nvPicPr>
          <p:cNvPr id="13" name="Image 2" descr="CheckCircle">    </p:cNvPr>
          <p:cNvPicPr>
            <a:picLocks noChangeAspect="1"/>
          </p:cNvPicPr>
          <p:nvPr/>
        </p:nvPicPr>
        <p:blipFill>
          <a:blip r:embed="rId3"/>
          <a:srcRect l="0" r="0" t="0" b="0"/>
          <a:stretch/>
        </p:blipFill>
        <p:spPr>
          <a:xfrm>
            <a:off x="3865880" y="4503421"/>
            <a:ext cx="203200" cy="203200"/>
          </a:xfrm>
          <a:prstGeom prst="rect">
            <a:avLst/>
          </a:prstGeom>
        </p:spPr>
      </p:pic>
      <p:sp>
        <p:nvSpPr>
          <p:cNvPr id="14" name="Text 9"/>
          <p:cNvSpPr/>
          <p:nvPr/>
        </p:nvSpPr>
        <p:spPr>
          <a:xfrm>
            <a:off x="4196080" y="4489450"/>
            <a:ext cx="62300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2 new access-control tests — student-number login, and lecturer–module scoping</a:t>
            </a:r>
            <a:endParaRPr lang="en-US" sz="1300" dirty="0"/>
          </a:p>
        </p:txBody>
      </p:sp>
      <p:sp>
        <p:nvSpPr>
          <p:cNvPr id="15" name="Text 10"/>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6" name="Text 11"/>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What we'll demonstrate</a:t>
            </a:r>
            <a:endParaRPr lang="en-US" sz="3200" dirty="0"/>
          </a:p>
        </p:txBody>
      </p:sp>
      <p:sp>
        <p:nvSpPr>
          <p:cNvPr id="3" name="Shape 1"/>
          <p:cNvSpPr/>
          <p:nvPr/>
        </p:nvSpPr>
        <p:spPr>
          <a:xfrm>
            <a:off x="812800" y="2145669"/>
            <a:ext cx="10566400" cy="0"/>
          </a:xfrm>
          <a:prstGeom prst="line">
            <a:avLst/>
          </a:prstGeom>
          <a:noFill/>
          <a:ln w="6350">
            <a:solidFill>
              <a:srgbClr val="E3E1D8"/>
            </a:solidFill>
            <a:prstDash val="solid"/>
          </a:ln>
        </p:spPr>
      </p:sp>
      <p:sp>
        <p:nvSpPr>
          <p:cNvPr id="4" name="Text 2"/>
          <p:cNvSpPr/>
          <p:nvPr/>
        </p:nvSpPr>
        <p:spPr>
          <a:xfrm>
            <a:off x="812800" y="166116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08A28"/>
                </a:solidFill>
                <a:latin typeface="EB Garamond" pitchFamily="34" charset="0"/>
                <a:ea typeface="EB Garamond" pitchFamily="34" charset="-122"/>
                <a:cs typeface="EB Garamond" pitchFamily="34" charset="-120"/>
              </a:rPr>
              <a:t>1</a:t>
            </a:r>
            <a:endParaRPr lang="en-US" sz="2000" dirty="0"/>
          </a:p>
        </p:txBody>
      </p:sp>
      <p:sp>
        <p:nvSpPr>
          <p:cNvPr id="5" name="Text 3"/>
          <p:cNvSpPr/>
          <p:nvPr/>
        </p:nvSpPr>
        <p:spPr>
          <a:xfrm>
            <a:off x="1397000" y="1723392"/>
            <a:ext cx="59535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A student registers with a student number, selects a programme and modules.</a:t>
            </a:r>
            <a:endParaRPr lang="en-US" sz="1300" dirty="0"/>
          </a:p>
        </p:txBody>
      </p:sp>
      <p:sp>
        <p:nvSpPr>
          <p:cNvPr id="6" name="Shape 4"/>
          <p:cNvSpPr/>
          <p:nvPr/>
        </p:nvSpPr>
        <p:spPr>
          <a:xfrm>
            <a:off x="812800" y="2760347"/>
            <a:ext cx="10566400" cy="0"/>
          </a:xfrm>
          <a:prstGeom prst="line">
            <a:avLst/>
          </a:prstGeom>
          <a:noFill/>
          <a:ln w="6350">
            <a:solidFill>
              <a:srgbClr val="E3E1D8"/>
            </a:solidFill>
            <a:prstDash val="solid"/>
          </a:ln>
        </p:spPr>
      </p:sp>
      <p:sp>
        <p:nvSpPr>
          <p:cNvPr id="7" name="Text 5"/>
          <p:cNvSpPr/>
          <p:nvPr/>
        </p:nvSpPr>
        <p:spPr>
          <a:xfrm>
            <a:off x="812800" y="2275842"/>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08A28"/>
                </a:solidFill>
                <a:latin typeface="EB Garamond" pitchFamily="34" charset="0"/>
                <a:ea typeface="EB Garamond" pitchFamily="34" charset="-122"/>
                <a:cs typeface="EB Garamond" pitchFamily="34" charset="-120"/>
              </a:rPr>
              <a:t>2</a:t>
            </a:r>
            <a:endParaRPr lang="en-US" sz="2000" dirty="0"/>
          </a:p>
        </p:txBody>
      </p:sp>
      <p:sp>
        <p:nvSpPr>
          <p:cNvPr id="8" name="Text 6"/>
          <p:cNvSpPr/>
          <p:nvPr/>
        </p:nvSpPr>
        <p:spPr>
          <a:xfrm>
            <a:off x="1397000" y="2338071"/>
            <a:ext cx="72017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They configure the assessment structure for a module — category weightings and mark counts.</a:t>
            </a:r>
            <a:endParaRPr lang="en-US" sz="1300" dirty="0"/>
          </a:p>
        </p:txBody>
      </p:sp>
      <p:sp>
        <p:nvSpPr>
          <p:cNvPr id="9" name="Shape 7"/>
          <p:cNvSpPr/>
          <p:nvPr/>
        </p:nvSpPr>
        <p:spPr>
          <a:xfrm>
            <a:off x="812800" y="3375026"/>
            <a:ext cx="10566400" cy="0"/>
          </a:xfrm>
          <a:prstGeom prst="line">
            <a:avLst/>
          </a:prstGeom>
          <a:noFill/>
          <a:ln w="6350">
            <a:solidFill>
              <a:srgbClr val="E3E1D8"/>
            </a:solidFill>
            <a:prstDash val="solid"/>
          </a:ln>
        </p:spPr>
      </p:sp>
      <p:sp>
        <p:nvSpPr>
          <p:cNvPr id="10" name="Text 8"/>
          <p:cNvSpPr/>
          <p:nvPr/>
        </p:nvSpPr>
        <p:spPr>
          <a:xfrm>
            <a:off x="812800" y="289052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08A28"/>
                </a:solidFill>
                <a:latin typeface="EB Garamond" pitchFamily="34" charset="0"/>
                <a:ea typeface="EB Garamond" pitchFamily="34" charset="-122"/>
                <a:cs typeface="EB Garamond" pitchFamily="34" charset="-120"/>
              </a:rPr>
              <a:t>3</a:t>
            </a:r>
            <a:endParaRPr lang="en-US" sz="2000" dirty="0"/>
          </a:p>
        </p:txBody>
      </p:sp>
      <p:sp>
        <p:nvSpPr>
          <p:cNvPr id="11" name="Text 9"/>
          <p:cNvSpPr/>
          <p:nvPr/>
        </p:nvSpPr>
        <p:spPr>
          <a:xfrm>
            <a:off x="1397000" y="2952750"/>
            <a:ext cx="64608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Marks are uploaded, and DP progress plus AI-assisted feedback update immediately.</a:t>
            </a:r>
            <a:endParaRPr lang="en-US" sz="1300" dirty="0"/>
          </a:p>
        </p:txBody>
      </p:sp>
      <p:sp>
        <p:nvSpPr>
          <p:cNvPr id="12" name="Shape 10"/>
          <p:cNvSpPr/>
          <p:nvPr/>
        </p:nvSpPr>
        <p:spPr>
          <a:xfrm>
            <a:off x="812800" y="3989705"/>
            <a:ext cx="10566400" cy="0"/>
          </a:xfrm>
          <a:prstGeom prst="line">
            <a:avLst/>
          </a:prstGeom>
          <a:noFill/>
          <a:ln w="6350">
            <a:solidFill>
              <a:srgbClr val="E3E1D8"/>
            </a:solidFill>
            <a:prstDash val="solid"/>
          </a:ln>
        </p:spPr>
      </p:sp>
      <p:sp>
        <p:nvSpPr>
          <p:cNvPr id="13" name="Text 11"/>
          <p:cNvSpPr/>
          <p:nvPr/>
        </p:nvSpPr>
        <p:spPr>
          <a:xfrm>
            <a:off x="812800" y="3505200"/>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08A28"/>
                </a:solidFill>
                <a:latin typeface="EB Garamond" pitchFamily="34" charset="0"/>
                <a:ea typeface="EB Garamond" pitchFamily="34" charset="-122"/>
                <a:cs typeface="EB Garamond" pitchFamily="34" charset="-120"/>
              </a:rPr>
              <a:t>4</a:t>
            </a:r>
            <a:endParaRPr lang="en-US" sz="2000" dirty="0"/>
          </a:p>
        </p:txBody>
      </p:sp>
      <p:sp>
        <p:nvSpPr>
          <p:cNvPr id="14" name="Text 12"/>
          <p:cNvSpPr/>
          <p:nvPr/>
        </p:nvSpPr>
        <p:spPr>
          <a:xfrm>
            <a:off x="1397000" y="3567429"/>
            <a:ext cx="581908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An administrator assigns a lecturer to that module in Manage User Accounts.</a:t>
            </a:r>
            <a:endParaRPr lang="en-US" sz="1300" dirty="0"/>
          </a:p>
        </p:txBody>
      </p:sp>
      <p:sp>
        <p:nvSpPr>
          <p:cNvPr id="15" name="Text 13"/>
          <p:cNvSpPr/>
          <p:nvPr/>
        </p:nvSpPr>
        <p:spPr>
          <a:xfrm>
            <a:off x="812800" y="4119879"/>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08A28"/>
                </a:solidFill>
                <a:latin typeface="EB Garamond" pitchFamily="34" charset="0"/>
                <a:ea typeface="EB Garamond" pitchFamily="34" charset="-122"/>
                <a:cs typeface="EB Garamond" pitchFamily="34" charset="-120"/>
              </a:rPr>
              <a:t>5</a:t>
            </a:r>
            <a:endParaRPr lang="en-US" sz="2000" dirty="0"/>
          </a:p>
        </p:txBody>
      </p:sp>
      <p:sp>
        <p:nvSpPr>
          <p:cNvPr id="16" name="Text 14"/>
          <p:cNvSpPr/>
          <p:nvPr/>
        </p:nvSpPr>
        <p:spPr>
          <a:xfrm>
            <a:off x="1397000" y="4182114"/>
            <a:ext cx="616090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3D"/>
                </a:solidFill>
                <a:latin typeface="IBM Plex Sans" pitchFamily="34" charset="0"/>
                <a:ea typeface="IBM Plex Sans" pitchFamily="34" charset="-122"/>
                <a:cs typeface="IBM Plex Sans" pitchFamily="34" charset="-120"/>
              </a:rPr>
              <a:t>The lecturer logs in and sees only the students enrolled in their assigned module.</a:t>
            </a:r>
            <a:endParaRPr lang="en-US" sz="1300" dirty="0"/>
          </a:p>
        </p:txBody>
      </p:sp>
      <p:sp>
        <p:nvSpPr>
          <p:cNvPr id="17" name="Text 15"/>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8" name="Text 16"/>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Known limitations</a:t>
            </a:r>
            <a:endParaRPr lang="en-US" sz="3200" dirty="0"/>
          </a:p>
        </p:txBody>
      </p:sp>
      <p:sp>
        <p:nvSpPr>
          <p:cNvPr id="3" name="Shape 1"/>
          <p:cNvSpPr/>
          <p:nvPr/>
        </p:nvSpPr>
        <p:spPr>
          <a:xfrm>
            <a:off x="815975" y="1511939"/>
            <a:ext cx="10560050" cy="1019175"/>
          </a:xfrm>
          <a:prstGeom prst="roundRect">
            <a:avLst>
              <a:gd name="adj" fmla="val 8411"/>
            </a:avLst>
          </a:prstGeom>
          <a:solidFill>
            <a:srgbClr val="FFFFFF"/>
          </a:solidFill>
          <a:ln w="6350">
            <a:solidFill>
              <a:srgbClr val="E3E1D8"/>
            </a:solidFill>
            <a:prstDash val="solid"/>
          </a:ln>
        </p:spPr>
      </p:sp>
      <p:pic>
        <p:nvPicPr>
          <p:cNvPr id="4" name="Image 0" descr="Warning">    </p:cNvPr>
          <p:cNvPicPr>
            <a:picLocks noChangeAspect="1"/>
          </p:cNvPicPr>
          <p:nvPr/>
        </p:nvPicPr>
        <p:blipFill>
          <a:blip r:embed="rId1"/>
          <a:srcRect l="-966" r="-966" t="0" b="0"/>
          <a:stretch/>
        </p:blipFill>
        <p:spPr>
          <a:xfrm>
            <a:off x="1021080" y="1691642"/>
            <a:ext cx="142399" cy="215900"/>
          </a:xfrm>
          <a:prstGeom prst="rect">
            <a:avLst/>
          </a:prstGeom>
        </p:spPr>
      </p:pic>
      <p:sp>
        <p:nvSpPr>
          <p:cNvPr id="5" name="Text 2"/>
          <p:cNvSpPr/>
          <p:nvPr/>
        </p:nvSpPr>
        <p:spPr>
          <a:xfrm>
            <a:off x="1315879" y="1691642"/>
            <a:ext cx="10150692"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AI feedback can be briefly unavailable</a:t>
            </a:r>
            <a:endParaRPr lang="en-US" sz="1300" dirty="0"/>
          </a:p>
        </p:txBody>
      </p:sp>
      <p:sp>
        <p:nvSpPr>
          <p:cNvPr id="6" name="Text 3"/>
          <p:cNvSpPr/>
          <p:nvPr/>
        </p:nvSpPr>
        <p:spPr>
          <a:xfrm>
            <a:off x="1315879" y="1927864"/>
            <a:ext cx="10150692" cy="448945"/>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5B6472"/>
                </a:solidFill>
                <a:latin typeface="IBM Plex Sans" pitchFamily="34" charset="0"/>
                <a:ea typeface="IBM Plex Sans" pitchFamily="34" charset="-122"/>
                <a:cs typeface="IBM Plex Sans" pitchFamily="34" charset="-120"/>
              </a:rPr>
              <a:t>Under heavy traffic, the Gemini API rate-limits requests, so the feedback wording step is skipped for that upload. The DP progress percentage, band and trend are calculated by our own deterministic engine and are never affected.</a:t>
            </a:r>
            <a:endParaRPr lang="en-US" sz="1150" dirty="0"/>
          </a:p>
        </p:txBody>
      </p:sp>
      <p:sp>
        <p:nvSpPr>
          <p:cNvPr id="7" name="Shape 4"/>
          <p:cNvSpPr/>
          <p:nvPr/>
        </p:nvSpPr>
        <p:spPr>
          <a:xfrm>
            <a:off x="815975" y="2651764"/>
            <a:ext cx="10560050" cy="1019175"/>
          </a:xfrm>
          <a:prstGeom prst="roundRect">
            <a:avLst>
              <a:gd name="adj" fmla="val 8411"/>
            </a:avLst>
          </a:prstGeom>
          <a:solidFill>
            <a:srgbClr val="FFFFFF"/>
          </a:solidFill>
          <a:ln w="6350">
            <a:solidFill>
              <a:srgbClr val="E3E1D8"/>
            </a:solidFill>
            <a:prstDash val="solid"/>
          </a:ln>
        </p:spPr>
      </p:sp>
      <p:pic>
        <p:nvPicPr>
          <p:cNvPr id="8" name="Image 1" descr="Lock">    </p:cNvPr>
          <p:cNvPicPr>
            <a:picLocks noChangeAspect="1"/>
          </p:cNvPicPr>
          <p:nvPr/>
        </p:nvPicPr>
        <p:blipFill>
          <a:blip r:embed="rId2"/>
          <a:srcRect l="-875" r="-875" t="0" b="0"/>
          <a:stretch/>
        </p:blipFill>
        <p:spPr>
          <a:xfrm>
            <a:off x="1021080" y="2831467"/>
            <a:ext cx="129223" cy="215900"/>
          </a:xfrm>
          <a:prstGeom prst="rect">
            <a:avLst/>
          </a:prstGeom>
        </p:spPr>
      </p:pic>
      <p:sp>
        <p:nvSpPr>
          <p:cNvPr id="9" name="Text 5"/>
          <p:cNvSpPr/>
          <p:nvPr/>
        </p:nvSpPr>
        <p:spPr>
          <a:xfrm>
            <a:off x="1302703" y="2831467"/>
            <a:ext cx="10164264"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A lecturer's view starts empty until assigned</a:t>
            </a:r>
            <a:endParaRPr lang="en-US" sz="1300" dirty="0"/>
          </a:p>
        </p:txBody>
      </p:sp>
      <p:sp>
        <p:nvSpPr>
          <p:cNvPr id="10" name="Text 6"/>
          <p:cNvSpPr/>
          <p:nvPr/>
        </p:nvSpPr>
        <p:spPr>
          <a:xfrm>
            <a:off x="1302703" y="3067689"/>
            <a:ext cx="10164264" cy="448945"/>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5B6472"/>
                </a:solidFill>
                <a:latin typeface="IBM Plex Sans" pitchFamily="34" charset="0"/>
                <a:ea typeface="IBM Plex Sans" pitchFamily="34" charset="-122"/>
                <a:cs typeface="IBM Plex Sans" pitchFamily="34" charset="-120"/>
              </a:rPr>
              <a:t>An Academic Staff account shows no students until an Administrator explicitly assigns them a module. This is access control working as designed, but it means module assignment has to happen first — it is easy to mistake for a fault if that step is missed.</a:t>
            </a:r>
            <a:endParaRPr lang="en-US" sz="1150" dirty="0"/>
          </a:p>
        </p:txBody>
      </p:sp>
      <p:sp>
        <p:nvSpPr>
          <p:cNvPr id="11" name="Shape 7"/>
          <p:cNvSpPr/>
          <p:nvPr/>
        </p:nvSpPr>
        <p:spPr>
          <a:xfrm>
            <a:off x="815975" y="3791589"/>
            <a:ext cx="10560050" cy="1019175"/>
          </a:xfrm>
          <a:prstGeom prst="roundRect">
            <a:avLst>
              <a:gd name="adj" fmla="val 8411"/>
            </a:avLst>
          </a:prstGeom>
          <a:solidFill>
            <a:srgbClr val="FFFFFF"/>
          </a:solidFill>
          <a:ln w="6350">
            <a:solidFill>
              <a:srgbClr val="E3E1D8"/>
            </a:solidFill>
            <a:prstDash val="solid"/>
          </a:ln>
        </p:spPr>
      </p:sp>
      <p:pic>
        <p:nvPicPr>
          <p:cNvPr id="12" name="Image 2" descr="Tool">    </p:cNvPr>
          <p:cNvPicPr>
            <a:picLocks noChangeAspect="1"/>
          </p:cNvPicPr>
          <p:nvPr/>
        </p:nvPicPr>
        <p:blipFill>
          <a:blip r:embed="rId3"/>
          <a:srcRect l="-431" r="-431" t="0" b="0"/>
          <a:stretch/>
        </p:blipFill>
        <p:spPr>
          <a:xfrm>
            <a:off x="1021080" y="3971292"/>
            <a:ext cx="185738" cy="215900"/>
          </a:xfrm>
          <a:prstGeom prst="rect">
            <a:avLst/>
          </a:prstGeom>
        </p:spPr>
      </p:pic>
      <p:sp>
        <p:nvSpPr>
          <p:cNvPr id="13" name="Text 8"/>
          <p:cNvSpPr/>
          <p:nvPr/>
        </p:nvSpPr>
        <p:spPr>
          <a:xfrm>
            <a:off x="1359218" y="3971292"/>
            <a:ext cx="10106054"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Academic Staff access is read-only</a:t>
            </a:r>
            <a:endParaRPr lang="en-US" sz="1300" dirty="0"/>
          </a:p>
        </p:txBody>
      </p:sp>
      <p:sp>
        <p:nvSpPr>
          <p:cNvPr id="14" name="Text 9"/>
          <p:cNvSpPr/>
          <p:nvPr/>
        </p:nvSpPr>
        <p:spPr>
          <a:xfrm>
            <a:off x="1359218" y="4207514"/>
            <a:ext cx="10106054" cy="448945"/>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5B6472"/>
                </a:solidFill>
                <a:latin typeface="IBM Plex Sans" pitchFamily="34" charset="0"/>
                <a:ea typeface="IBM Plex Sans" pitchFamily="34" charset="-122"/>
                <a:cs typeface="IBM Plex Sans" pitchFamily="34" charset="-120"/>
              </a:rPr>
              <a:t>Lecturers can view but not yet set assessment weightings themselves — that responsibility is still the student's, with lecturer-side configuration planned as a phased next step.</a:t>
            </a:r>
            <a:endParaRPr lang="en-US" sz="1150" dirty="0"/>
          </a:p>
        </p:txBody>
      </p:sp>
      <p:sp>
        <p:nvSpPr>
          <p:cNvPr id="15" name="Shape 10"/>
          <p:cNvSpPr/>
          <p:nvPr/>
        </p:nvSpPr>
        <p:spPr>
          <a:xfrm>
            <a:off x="815975" y="4931414"/>
            <a:ext cx="10560050" cy="807403"/>
          </a:xfrm>
          <a:prstGeom prst="roundRect">
            <a:avLst>
              <a:gd name="adj" fmla="val 10617"/>
            </a:avLst>
          </a:prstGeom>
          <a:solidFill>
            <a:srgbClr val="FFFFFF"/>
          </a:solidFill>
          <a:ln w="6350">
            <a:solidFill>
              <a:srgbClr val="E3E1D8"/>
            </a:solidFill>
            <a:prstDash val="solid"/>
          </a:ln>
        </p:spPr>
      </p:sp>
      <p:pic>
        <p:nvPicPr>
          <p:cNvPr id="16" name="Image 3" descr="Cloud">    </p:cNvPr>
          <p:cNvPicPr>
            <a:picLocks noChangeAspect="1"/>
          </p:cNvPicPr>
          <p:nvPr/>
        </p:nvPicPr>
        <p:blipFill>
          <a:blip r:embed="rId4"/>
          <a:srcRect l="0" r="0" t="0" b="0"/>
          <a:stretch/>
        </p:blipFill>
        <p:spPr>
          <a:xfrm>
            <a:off x="1021080" y="5111117"/>
            <a:ext cx="215900" cy="215900"/>
          </a:xfrm>
          <a:prstGeom prst="rect">
            <a:avLst/>
          </a:prstGeom>
        </p:spPr>
      </p:pic>
      <p:sp>
        <p:nvSpPr>
          <p:cNvPr id="17" name="Text 11"/>
          <p:cNvSpPr/>
          <p:nvPr/>
        </p:nvSpPr>
        <p:spPr>
          <a:xfrm>
            <a:off x="1389380" y="5111117"/>
            <a:ext cx="851009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233D"/>
                </a:solidFill>
                <a:latin typeface="IBM Plex Sans" pitchFamily="34" charset="0"/>
                <a:ea typeface="IBM Plex Sans" pitchFamily="34" charset="-122"/>
                <a:cs typeface="IBM Plex Sans" pitchFamily="34" charset="-120"/>
              </a:rPr>
              <a:t>Requires network access</a:t>
            </a:r>
            <a:endParaRPr lang="en-US" sz="1300" dirty="0"/>
          </a:p>
        </p:txBody>
      </p:sp>
      <p:sp>
        <p:nvSpPr>
          <p:cNvPr id="18" name="Text 12"/>
          <p:cNvSpPr/>
          <p:nvPr/>
        </p:nvSpPr>
        <p:spPr>
          <a:xfrm>
            <a:off x="1389380" y="5347339"/>
            <a:ext cx="8510090" cy="237173"/>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5B6472"/>
                </a:solidFill>
                <a:latin typeface="IBM Plex Sans" pitchFamily="34" charset="0"/>
                <a:ea typeface="IBM Plex Sans" pitchFamily="34" charset="-122"/>
                <a:cs typeface="IBM Plex Sans" pitchFamily="34" charset="-120"/>
              </a:rPr>
              <a:t>Progress tracking works offline against the local database, but AI feedback and CSV-based data import both need connectivity.</a:t>
            </a:r>
            <a:endParaRPr lang="en-US" sz="1150" dirty="0"/>
          </a:p>
        </p:txBody>
      </p:sp>
      <p:sp>
        <p:nvSpPr>
          <p:cNvPr id="19" name="Text 13"/>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20" name="Text 14"/>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6233D"/>
                </a:solidFill>
                <a:latin typeface="EB Garamond" pitchFamily="34" charset="0"/>
                <a:ea typeface="EB Garamond" pitchFamily="34" charset="-122"/>
                <a:cs typeface="EB Garamond" pitchFamily="34" charset="-120"/>
              </a:rPr>
              <a:t>Where SAASSP goes next</a:t>
            </a:r>
            <a:endParaRPr lang="en-US" sz="3200" dirty="0"/>
          </a:p>
        </p:txBody>
      </p:sp>
      <p:sp>
        <p:nvSpPr>
          <p:cNvPr id="3" name="Shape 1"/>
          <p:cNvSpPr/>
          <p:nvPr/>
        </p:nvSpPr>
        <p:spPr>
          <a:xfrm>
            <a:off x="812800" y="1559558"/>
            <a:ext cx="5176520" cy="4282440"/>
          </a:xfrm>
          <a:prstGeom prst="roundRect">
            <a:avLst>
              <a:gd name="adj" fmla="val 2372"/>
            </a:avLst>
          </a:prstGeom>
          <a:solidFill>
            <a:srgbClr val="16233D"/>
          </a:solidFill>
          <a:ln/>
        </p:spPr>
      </p:sp>
      <p:sp>
        <p:nvSpPr>
          <p:cNvPr id="4" name="Text 2"/>
          <p:cNvSpPr/>
          <p:nvPr/>
        </p:nvSpPr>
        <p:spPr>
          <a:xfrm>
            <a:off x="1066800" y="1813558"/>
            <a:ext cx="48085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08A28"/>
                </a:solidFill>
                <a:latin typeface="IBM Plex Sans" pitchFamily="34" charset="0"/>
                <a:ea typeface="IBM Plex Sans" pitchFamily="34" charset="-122"/>
                <a:cs typeface="IBM Plex Sans" pitchFamily="34" charset="-120"/>
              </a:rPr>
              <a:t>Delivered</a:t>
            </a:r>
            <a:endParaRPr lang="en-US" sz="1500" dirty="0"/>
          </a:p>
        </p:txBody>
      </p:sp>
      <p:sp>
        <p:nvSpPr>
          <p:cNvPr id="5" name="Text 3"/>
          <p:cNvSpPr/>
          <p:nvPr/>
        </p:nvSpPr>
        <p:spPr>
          <a:xfrm>
            <a:off x="1066800" y="2143758"/>
            <a:ext cx="480857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DEFF3"/>
                </a:solidFill>
                <a:latin typeface="IBM Plex Sans" pitchFamily="34" charset="0"/>
                <a:ea typeface="IBM Plex Sans" pitchFamily="34" charset="-122"/>
                <a:cs typeface="IBM Plex Sans" pitchFamily="34" charset="-120"/>
              </a:rPr>
              <a:t>A working, tested Flask system: deterministic DP progress per module, instant AI feedback, and role-scoped access for students, lecturers and administrators.</a:t>
            </a:r>
            <a:endParaRPr lang="en-US" sz="1200" dirty="0"/>
          </a:p>
        </p:txBody>
      </p:sp>
      <p:sp>
        <p:nvSpPr>
          <p:cNvPr id="6" name="Shape 4"/>
          <p:cNvSpPr/>
          <p:nvPr/>
        </p:nvSpPr>
        <p:spPr>
          <a:xfrm>
            <a:off x="6195695" y="1562733"/>
            <a:ext cx="5180330" cy="4276090"/>
          </a:xfrm>
          <a:prstGeom prst="roundRect">
            <a:avLst>
              <a:gd name="adj" fmla="val 2302"/>
            </a:avLst>
          </a:prstGeom>
          <a:solidFill>
            <a:srgbClr val="FFFFFF"/>
          </a:solidFill>
          <a:ln w="6350">
            <a:solidFill>
              <a:srgbClr val="E3E1D8"/>
            </a:solidFill>
            <a:prstDash val="solid"/>
          </a:ln>
        </p:spPr>
      </p:sp>
      <p:sp>
        <p:nvSpPr>
          <p:cNvPr id="7" name="Text 5"/>
          <p:cNvSpPr/>
          <p:nvPr/>
        </p:nvSpPr>
        <p:spPr>
          <a:xfrm>
            <a:off x="6451600" y="1818642"/>
            <a:ext cx="48085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08A28"/>
                </a:solidFill>
                <a:latin typeface="IBM Plex Sans" pitchFamily="34" charset="0"/>
                <a:ea typeface="IBM Plex Sans" pitchFamily="34" charset="-122"/>
                <a:cs typeface="IBM Plex Sans" pitchFamily="34" charset="-120"/>
              </a:rPr>
              <a:t>Next</a:t>
            </a:r>
            <a:endParaRPr lang="en-US" sz="1500" dirty="0"/>
          </a:p>
        </p:txBody>
      </p:sp>
      <p:sp>
        <p:nvSpPr>
          <p:cNvPr id="8" name="Text 6"/>
          <p:cNvSpPr/>
          <p:nvPr/>
        </p:nvSpPr>
        <p:spPr>
          <a:xfrm>
            <a:off x="6451600" y="2148842"/>
            <a:ext cx="480857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pitchFamily="34" charset="0"/>
                <a:ea typeface="IBM Plex Sans" pitchFamily="34" charset="-122"/>
                <a:cs typeface="IBM Plex Sans" pitchFamily="34" charset="-120"/>
              </a:rPr>
              <a:t>Let lecturers set their own assessment weightings, add progress history over time, and continue polishing the interface.</a:t>
            </a:r>
            <a:endParaRPr lang="en-US" sz="1200" dirty="0"/>
          </a:p>
        </p:txBody>
      </p:sp>
      <p:sp>
        <p:nvSpPr>
          <p:cNvPr id="9" name="Text 7"/>
          <p:cNvSpPr/>
          <p:nvPr/>
        </p:nvSpPr>
        <p:spPr>
          <a:xfrm>
            <a:off x="812800"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
        <p:nvSpPr>
          <p:cNvPr id="10" name="Text 8"/>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33D"/>
        </a:solidFill>
      </p:bgPr>
    </p:bg>
    <p:spTree>
      <p:nvGrpSpPr>
        <p:cNvPr id="1" name=""/>
        <p:cNvGrpSpPr/>
        <p:nvPr/>
      </p:nvGrpSpPr>
      <p:grpSpPr>
        <a:xfrm>
          <a:off x="0" y="0"/>
          <a:ext cx="0" cy="0"/>
          <a:chOff x="0" y="0"/>
          <a:chExt cx="0" cy="0"/>
        </a:xfrm>
      </p:grpSpPr>
      <p:sp>
        <p:nvSpPr>
          <p:cNvPr id="2" name="Text 0"/>
          <p:cNvSpPr/>
          <p:nvPr/>
        </p:nvSpPr>
        <p:spPr>
          <a:xfrm>
            <a:off x="4740672" y="2862585"/>
            <a:ext cx="2791976"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BFBF9"/>
                </a:solidFill>
                <a:latin typeface="EB Garamond" pitchFamily="34" charset="0"/>
                <a:ea typeface="EB Garamond" pitchFamily="34" charset="-122"/>
                <a:cs typeface="EB Garamond" pitchFamily="34" charset="-120"/>
              </a:rPr>
              <a:t>Thank you</a:t>
            </a:r>
            <a:endParaRPr lang="en-US" sz="4800" dirty="0"/>
          </a:p>
        </p:txBody>
      </p:sp>
      <p:sp>
        <p:nvSpPr>
          <p:cNvPr id="3" name="Text 1"/>
          <p:cNvSpPr/>
          <p:nvPr/>
        </p:nvSpPr>
        <p:spPr>
          <a:xfrm>
            <a:off x="4936808" y="3710942"/>
            <a:ext cx="238793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7D6"/>
                </a:solidFill>
                <a:latin typeface="IBM Plex Sans" pitchFamily="34" charset="0"/>
                <a:ea typeface="IBM Plex Sans" pitchFamily="34" charset="-122"/>
                <a:cs typeface="IBM Plex Sans" pitchFamily="34" charset="-120"/>
              </a:rPr>
              <a:t>Questions and discussion</a:t>
            </a:r>
            <a:endParaRPr lang="en-US" sz="1600" dirty="0"/>
          </a:p>
        </p:txBody>
      </p:sp>
      <p:sp>
        <p:nvSpPr>
          <p:cNvPr id="4" name="Text 2"/>
          <p:cNvSpPr/>
          <p:nvPr/>
        </p:nvSpPr>
        <p:spPr>
          <a:xfrm>
            <a:off x="812800" y="6238242"/>
            <a:ext cx="400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University of Zululand · Department of Computer Science</a:t>
            </a:r>
            <a:endParaRPr lang="en-US" sz="1200" dirty="0"/>
          </a:p>
        </p:txBody>
      </p:sp>
      <p:sp>
        <p:nvSpPr>
          <p:cNvPr id="5" name="Text 3"/>
          <p:cNvSpPr/>
          <p:nvPr/>
        </p:nvSpPr>
        <p:spPr>
          <a:xfrm>
            <a:off x="10063163" y="6238242"/>
            <a:ext cx="13668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SAASSP · Group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SAASSP Presentation</dc:title>
  <dc:subject>PptxGenJS Presentation</dc:subject>
  <dc:creator>PptxGenJS</dc:creator>
  <cp:lastModifiedBy>PptxGenJS</cp:lastModifiedBy>
  <cp:revision>1</cp:revision>
  <dcterms:created xsi:type="dcterms:W3CDTF">2026-09-28T11:25:57Z</dcterms:created>
  <dcterms:modified xsi:type="dcterms:W3CDTF">2026-09-28T11:25:57Z</dcterms:modified>
</cp:coreProperties>
</file>